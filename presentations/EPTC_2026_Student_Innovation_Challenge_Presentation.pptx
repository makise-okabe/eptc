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challenge and the four team members. This is an engineering simulation, not experimental qualification.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two-candidate window emerges. No universal optimum or durability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surrogate model is claimed. These are solved discrete scenarios with an analytical resistance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 are placed inline on appropriate slides. Simulated values come from the team report, not these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Thermomechanical Co-Design of TIM1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FINAL COMPETITION PRESENTATION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1280160"/>
            <a:ext cx="7498079" cy="10972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83A52"/>
                </a:solidFill>
                <a:latin typeface="Aptos"/>
              </a:rPr>
              <a:t>Interface-Aware Thermal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83A52"/>
                </a:solidFill>
                <a:latin typeface="Aptos"/>
              </a:rPr>
              <a:t>Interface Material Optimization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606040"/>
            <a:ext cx="7269480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657585"/>
                </a:solidFill>
                <a:latin typeface="Aptos"/>
              </a:rPr>
              <a:t>A representative 700-W AI accelerator FCBGA package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3364992"/>
            <a:ext cx="2715768" cy="338328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3424428"/>
            <a:ext cx="2532888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THERMAL + MECHANICAL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30168" y="3364992"/>
            <a:ext cx="2487168" cy="338328"/>
          </a:xfrm>
          <a:prstGeom prst="round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721608" y="3424428"/>
            <a:ext cx="2304288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CONTACT GEOMETRY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178808"/>
            <a:ext cx="7406640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344"/>
                </a:solidFill>
                <a:latin typeface="Aptos"/>
              </a:rPr>
              <a:t>Fang Tianchi  ·  Ke Tangxin  ·  Du Yanzhang  ·  Duan Yihe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645152"/>
            <a:ext cx="662940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57585"/>
                </a:solidFill>
                <a:latin typeface="Aptos"/>
              </a:rPr>
              <a:t>EPTC 2026 Student Innovation Challenge  |  Singapore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31352" y="1280160"/>
            <a:ext cx="2990088" cy="429768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78240" y="1627632"/>
            <a:ext cx="3239719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868A"/>
                </a:solidFill>
                <a:latin typeface="Aptos"/>
              </a:rPr>
              <a:t>KEY DESIGN DECISION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2048256"/>
            <a:ext cx="2487168" cy="8321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3A52"/>
                </a:solidFill>
                <a:latin typeface="Aptos"/>
              </a:rPr>
              <a:t>100 µm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3A52"/>
                </a:solidFill>
                <a:latin typeface="Aptos"/>
              </a:rPr>
              <a:t>vs 250 µm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78240" y="3218688"/>
            <a:ext cx="2468880" cy="10241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63A21"/>
                </a:solidFill>
                <a:latin typeface="Aptos"/>
              </a:rPr>
              <a:t>The coolest TIM is not always the mechanically least loaded.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778240" y="4590288"/>
            <a:ext cx="2487168" cy="0"/>
          </a:xfrm>
          <a:prstGeom prst="line">
            <a:avLst/>
          </a:prstGeom>
          <a:ln w="2540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778240" y="4800600"/>
            <a:ext cx="2532888" cy="4572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Matched nine-case DOE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352" y="6181344"/>
            <a:ext cx="1115568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57585"/>
                </a:solidFill>
                <a:latin typeface="Aptos"/>
              </a:rPr>
              <a:t>Source: team simulation study and the supplied EPTC 2026 competition report.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Executive takeaway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THE ENGINEERING ANSWER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1207008"/>
            <a:ext cx="10744200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83A52"/>
                </a:solidFill>
                <a:latin typeface="Aptos"/>
              </a:rPr>
              <a:t>One package. Two valid priorities.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4360" y="1975104"/>
            <a:ext cx="3566160" cy="21214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2176272"/>
            <a:ext cx="3291840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3868A"/>
                </a:solidFill>
                <a:latin typeface="Aptos"/>
              </a:rPr>
              <a:t>80.455 °C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2807208"/>
            <a:ext cx="3291840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Lowest modeled die temperature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3657600"/>
            <a:ext cx="329184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k = 30 W/(m·K), BLT = 100 µm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97680" y="1975104"/>
            <a:ext cx="3566160" cy="21214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34840" y="2176272"/>
            <a:ext cx="3291840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896A"/>
                </a:solidFill>
                <a:latin typeface="Aptos"/>
              </a:rPr>
              <a:t>0.010841 MPa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4840" y="2807208"/>
            <a:ext cx="3291840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Lowest sampled mean TIM stress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4840" y="3657600"/>
            <a:ext cx="329184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k = 30 W/(m·K), BLT = 250 µm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01000" y="1975104"/>
            <a:ext cx="3566160" cy="21214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2176272"/>
            <a:ext cx="3291840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963A21"/>
                </a:solidFill>
                <a:latin typeface="Aptos"/>
              </a:rPr>
              <a:t>9.46%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2807208"/>
            <a:ext cx="3291840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Stress penalty for thinner BLT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3657600"/>
            <a:ext cx="329184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250 → 100 µm at fixed k = 30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800" y="4416552"/>
            <a:ext cx="10789920" cy="1078992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41832" y="4608576"/>
            <a:ext cx="10259568" cy="6217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83A52"/>
                </a:solidFill>
                <a:latin typeface="Aptos"/>
              </a:rPr>
              <a:t>Higher conductivity helps broadly; installed thickness creates the sampled thermal–mechanical trade-off.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Why TIM1 becomes the design bottleneck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RESEARCH PROBLEM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Published TIM context: Prasher (2006); Due &amp; Robinson (2013); Zhao et al. (2019).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" y="1399032"/>
            <a:ext cx="3584448" cy="332841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8952" y="1581912"/>
            <a:ext cx="73152" cy="2962656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76" y="1554480"/>
            <a:ext cx="303580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High power density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" y="2011680"/>
            <a:ext cx="2990088" cy="2606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A nonuniform 700-W die load creates severe thermal demands for the die-to-lid interface.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97680" y="1399032"/>
            <a:ext cx="3584448" cy="332841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62272" y="1581912"/>
            <a:ext cx="73152" cy="2962656"/>
          </a:xfrm>
          <a:prstGeom prst="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54296" y="1554480"/>
            <a:ext cx="303580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Real interfaces are imperfect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54296" y="2011680"/>
            <a:ext cx="2990088" cy="2606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Bulk k alone misses compressed BLT, contact resistance, partial retention and local gaps.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01000" y="1399032"/>
            <a:ext cx="3584448" cy="332841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65592" y="1581912"/>
            <a:ext cx="73152" cy="2962656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57616" y="1554480"/>
            <a:ext cx="303580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Reliability is multiphysics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57616" y="2011680"/>
            <a:ext cx="2990088" cy="2606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Thinner or stiffer interfaces can change stress and strain even when warpage improves.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5120640"/>
            <a:ext cx="10515600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3A52"/>
                </a:solidFill>
                <a:latin typeface="Aptos"/>
              </a:rPr>
              <a:t>The optimization target is package behavior—not a single nominal material property.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Research questions and objectives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OBJECTIVES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Literature: Yi et al. (2025); Wen et al. (2026); Prasher (2006). Source details on references slide.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0664" y="1261872"/>
            <a:ext cx="10698480" cy="96012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6112" y="1435607"/>
            <a:ext cx="594360" cy="58521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8408" y="1581912"/>
            <a:ext cx="429768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73352" y="1389888"/>
            <a:ext cx="1847088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THERMAL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1435607"/>
            <a:ext cx="7498079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3344"/>
                </a:solidFill>
                <a:latin typeface="Aptos"/>
              </a:rPr>
              <a:t>How do TIM family, k and BLT affect the modeled die temperature?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0664" y="2386584"/>
            <a:ext cx="10698480" cy="96012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96112" y="2560320"/>
            <a:ext cx="594360" cy="58521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8408" y="2706624"/>
            <a:ext cx="429768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73352" y="2514600"/>
            <a:ext cx="1847088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INTERFACE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0" y="2560320"/>
            <a:ext cx="7498079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3344"/>
                </a:solidFill>
                <a:latin typeface="Aptos"/>
              </a:rPr>
              <a:t>How much does retained contact geometry matter beyond retained area?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40664" y="3511296"/>
            <a:ext cx="10698480" cy="96012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96112" y="3685032"/>
            <a:ext cx="594360" cy="58521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8408" y="3831335"/>
            <a:ext cx="429768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73352" y="3639312"/>
            <a:ext cx="1847088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MECHANICAL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3685032"/>
            <a:ext cx="7498079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3344"/>
                </a:solidFill>
                <a:latin typeface="Aptos"/>
              </a:rPr>
              <a:t>Does the best thermal design also reduce TIM stress, strain and lid warpage?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0664" y="4636008"/>
            <a:ext cx="10698480" cy="96012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96112" y="4809744"/>
            <a:ext cx="594360" cy="585216"/>
          </a:xfrm>
          <a:prstGeom prst="round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408" y="4956048"/>
            <a:ext cx="429768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73352" y="4764024"/>
            <a:ext cx="1847088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DECISION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0" y="4809744"/>
            <a:ext cx="7498079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3344"/>
                </a:solidFill>
                <a:latin typeface="Aptos"/>
              </a:rPr>
              <a:t>Which sampled candidates deserve experimental qualification?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An evidence-led optimization workflow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1737360"/>
            <a:ext cx="2194560" cy="263347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106424" y="1956816"/>
            <a:ext cx="804672" cy="71323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89304" y="2112264"/>
            <a:ext cx="448056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" y="2834640"/>
            <a:ext cx="190195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Analytical 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3429000"/>
            <a:ext cx="1938528" cy="7589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Bulk resistance &amp; assumptions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624328" y="2980944"/>
            <a:ext cx="182880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06624" y="2889503"/>
            <a:ext cx="100584" cy="91441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06624" y="2980944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2798064" y="1737360"/>
            <a:ext cx="2194560" cy="263347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493008" y="1956816"/>
            <a:ext cx="804672" cy="71323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75887" y="2112264"/>
            <a:ext cx="448056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62656" y="2834640"/>
            <a:ext cx="190195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Icepak FEA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5224" y="3429000"/>
            <a:ext cx="1938528" cy="7589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Materials, coverage, k–BLT DOE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10912" y="2980944"/>
            <a:ext cx="182880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093207" y="2889503"/>
            <a:ext cx="100585" cy="91441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093207" y="2980944"/>
            <a:ext cx="100585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5184648" y="1737360"/>
            <a:ext cx="2194560" cy="263347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879592" y="1956816"/>
            <a:ext cx="804672" cy="71323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62472" y="2112264"/>
            <a:ext cx="448056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49240" y="2834640"/>
            <a:ext cx="190195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Numerical gates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21808" y="3429000"/>
            <a:ext cx="1938528" cy="7589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Baseline replication &amp; mesh checks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397496" y="2980944"/>
            <a:ext cx="182879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479792" y="2889503"/>
            <a:ext cx="100583" cy="91441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7479792" y="2980944"/>
            <a:ext cx="100583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571231" y="1737360"/>
            <a:ext cx="2194560" cy="263347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266175" y="1956816"/>
            <a:ext cx="804672" cy="71323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49055" y="2112264"/>
            <a:ext cx="448056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35823" y="2834640"/>
            <a:ext cx="190195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MAPDL mechanics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08392" y="3429000"/>
            <a:ext cx="1938528" cy="7589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One-way, fully bonded handoff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784080" y="2980944"/>
            <a:ext cx="182879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9866376" y="2889503"/>
            <a:ext cx="100583" cy="91441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866376" y="2980944"/>
            <a:ext cx="100583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957815" y="1737360"/>
            <a:ext cx="2194560" cy="263347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0652759" y="1956816"/>
            <a:ext cx="804672" cy="713232"/>
          </a:xfrm>
          <a:prstGeom prst="round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835639" y="2112264"/>
            <a:ext cx="448056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22407" y="2834640"/>
            <a:ext cx="190195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Design decision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94976" y="3429000"/>
            <a:ext cx="1938528" cy="7589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Thermal vs. stress/strain/warpage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9808" y="4937760"/>
            <a:ext cx="10835640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963A21"/>
                </a:solidFill>
                <a:latin typeface="Aptos"/>
              </a:rPr>
              <a:t>All curves and design comparisons use solved cases—not an inferred lifetime or fabricated optimum.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Representative FCBGA package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Geometry: study-defined die and cold plate; literature-aligned lid, TIM2 and substrate (Wen et al., 2026).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25880" y="1252728"/>
            <a:ext cx="9601200" cy="612648"/>
          </a:xfrm>
          <a:prstGeom prst="rect">
            <a:avLst/>
          </a:prstGeom>
          <a:solidFill>
            <a:srgbClr val="963A21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63039" y="1335024"/>
            <a:ext cx="4608576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Fixed-temperature cold plate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1353312"/>
            <a:ext cx="4512564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Aptos"/>
              </a:rPr>
              <a:t>60 × 60 × 8 mm • top at 25 °C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20240" y="2002536"/>
            <a:ext cx="8412480" cy="612648"/>
          </a:xfrm>
          <a:prstGeom prst="rect">
            <a:avLst/>
          </a:prstGeom>
          <a:solidFill>
            <a:srgbClr val="E5EFF3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2084831"/>
            <a:ext cx="4037990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3A52"/>
                </a:solidFill>
                <a:latin typeface="Aptos"/>
              </a:rPr>
              <a:t>TIM2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79" y="2103120"/>
            <a:ext cx="3953865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83A52"/>
                </a:solidFill>
                <a:latin typeface="Aptos"/>
              </a:rPr>
              <a:t>0.10 mm • k = 5.4 W/(m·K)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920240" y="2752344"/>
            <a:ext cx="8412480" cy="612648"/>
          </a:xfrm>
          <a:prstGeom prst="rect">
            <a:avLst/>
          </a:prstGeom>
          <a:solidFill>
            <a:srgbClr val="B7CCD8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2834639"/>
            <a:ext cx="4037990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3A52"/>
                </a:solidFill>
                <a:latin typeface="Aptos"/>
              </a:rPr>
              <a:t>Copper lid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79" y="2852927"/>
            <a:ext cx="3953865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83A52"/>
                </a:solidFill>
                <a:latin typeface="Aptos"/>
              </a:rPr>
              <a:t>52.4 × 52.4 × 0.70 mm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34640" y="3502152"/>
            <a:ext cx="6583680" cy="612648"/>
          </a:xfrm>
          <a:prstGeom prst="rect">
            <a:avLst/>
          </a:prstGeom>
          <a:solidFill>
            <a:srgbClr val="E29E40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71800" y="3584448"/>
            <a:ext cx="3160166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3A52"/>
                </a:solidFill>
                <a:latin typeface="Aptos"/>
              </a:rPr>
              <a:t>TIM1 — the design variable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26480" y="3602736"/>
            <a:ext cx="3094329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83A52"/>
                </a:solidFill>
                <a:latin typeface="Aptos"/>
              </a:rPr>
              <a:t>k, BLT and contact area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34640" y="4251960"/>
            <a:ext cx="6583680" cy="612648"/>
          </a:xfrm>
          <a:prstGeom prst="rect">
            <a:avLst/>
          </a:prstGeom>
          <a:solidFill>
            <a:srgbClr val="EDC6AE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71800" y="4334256"/>
            <a:ext cx="3160166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3A52"/>
                </a:solidFill>
                <a:latin typeface="Aptos"/>
              </a:rPr>
              <a:t>Silicon die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4352544"/>
            <a:ext cx="3094329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83A52"/>
                </a:solidFill>
                <a:latin typeface="Aptos"/>
              </a:rPr>
              <a:t>28.5 × 28.5 × 0.70 mm • 700 W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25880" y="5001768"/>
            <a:ext cx="9601200" cy="612648"/>
          </a:xfrm>
          <a:prstGeom prst="rect">
            <a:avLst/>
          </a:prstGeom>
          <a:solidFill>
            <a:srgbClr val="E5EFF3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63039" y="5084064"/>
            <a:ext cx="4608576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3A52"/>
                </a:solidFill>
                <a:latin typeface="Aptos"/>
              </a:rPr>
              <a:t>Equivalent support / substrate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5102352"/>
            <a:ext cx="4512564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83A52"/>
                </a:solidFill>
                <a:latin typeface="Aptos"/>
              </a:rPr>
              <a:t>52.4 × 52.4 × 1.0 mm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" y="5897880"/>
            <a:ext cx="1124712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57585"/>
                </a:solidFill>
                <a:latin typeface="Aptos"/>
              </a:rPr>
              <a:t>Schematic only • Not a proprietary accelerator geometry • One-way thermal-to-mechanical coupling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Model assumptions: documented, not disguised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TRACEABILITY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References: Yi et al. (2025), Wen et al. (2026), Li et al. (2023).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" y="1207008"/>
            <a:ext cx="10652760" cy="100584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2688" y="1371600"/>
            <a:ext cx="91440" cy="667512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7008" y="1325880"/>
            <a:ext cx="2926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Literature-anchored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60520" y="1362456"/>
            <a:ext cx="6894576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21 W/(m·K) carbon pad; 88.22% and 64.82% contact fractions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8952" y="2377440"/>
            <a:ext cx="10652760" cy="100584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32688" y="2542032"/>
            <a:ext cx="91440" cy="667512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07008" y="2496312"/>
            <a:ext cx="2926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Literature-aligned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32888"/>
            <a:ext cx="6894576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52.4 mm substrate and lid; 0.1 mm TIM2; 60 mm cooler footprint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8952" y="3547872"/>
            <a:ext cx="10652760" cy="100584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32688" y="3712463"/>
            <a:ext cx="91440" cy="667512"/>
          </a:xfrm>
          <a:prstGeom prst="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07008" y="3666744"/>
            <a:ext cx="2926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Study-defined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0520" y="3703320"/>
            <a:ext cx="6894576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700-W, 4×4 hotspot map; 28.5 mm die; 25 °C fixed boundary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58952" y="4718304"/>
            <a:ext cx="10652760" cy="100584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32688" y="4882896"/>
            <a:ext cx="91440" cy="66751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07008" y="4837176"/>
            <a:ext cx="2926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Sensitivity variables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4873752"/>
            <a:ext cx="6894576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k = 15/21/30; BLT = 100/250/400 µm; carbon effective modulus/CTE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4400" y="5989320"/>
            <a:ext cx="104698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63A21"/>
                </a:solidFill>
                <a:latin typeface="Aptos"/>
              </a:rPr>
              <a:t>Neither the 700 W heat map nor k = 30 W/(m·K) at 100 µm has been measured on a product.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Constructed 4 × 4 die power map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THERMAL LOAD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05840" y="1353312"/>
            <a:ext cx="859536" cy="877824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1636776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7 W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38528" y="1353312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84248" y="1636776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71216" y="1353312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16936" y="1636776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03904" y="1353312"/>
            <a:ext cx="859536" cy="877824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9624" y="1636776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7 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5840" y="2304288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1560" y="2587752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38528" y="2304288"/>
            <a:ext cx="859536" cy="877824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984248" y="2587752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84 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71216" y="2304288"/>
            <a:ext cx="859536" cy="877824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16936" y="2587752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84 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03904" y="2304288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49624" y="2587752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" y="3255264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" y="3538728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938528" y="3255264"/>
            <a:ext cx="859536" cy="877824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984248" y="3538728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84 W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71216" y="3255264"/>
            <a:ext cx="859536" cy="877824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16936" y="3538728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84 W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03904" y="3255264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849624" y="3538728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5840" y="4206240"/>
            <a:ext cx="859536" cy="877824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1560" y="4489703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7 W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38528" y="4206240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984248" y="4489703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71216" y="4206240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16936" y="4489703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803904" y="4206240"/>
            <a:ext cx="859536" cy="877824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849624" y="4489703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7 W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486400" y="1453896"/>
            <a:ext cx="5431536" cy="347472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9864" y="1755648"/>
            <a:ext cx="4818888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3868A"/>
                </a:solidFill>
                <a:latin typeface="Aptos"/>
              </a:rPr>
              <a:t>700 W total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788152" y="2715768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61888" y="2596896"/>
            <a:ext cx="4379975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4 central tiles × 84 W = 336 W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788152" y="3337560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61888" y="3218688"/>
            <a:ext cx="4379975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8 adjacent tiles × 42 W = 336 W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88152" y="3959352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961888" y="3840480"/>
            <a:ext cx="4379975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4 corner tiles × 7 W = 28 W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97280" y="5367528"/>
            <a:ext cx="9875520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83A52"/>
                </a:solidFill>
                <a:latin typeface="Aptos"/>
              </a:rPr>
              <a:t>A fixed, nonuniform load reveals why contact loss beneath hotspots can be critical.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Thermal resistance: more than bulk conductivity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PHYSICAL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Physical interpretation: Prasher (2006); Zhao et al. (2019). Project response metric is not JEDEC θJC.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6" y="1325880"/>
            <a:ext cx="5257800" cy="289864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" y="1572768"/>
            <a:ext cx="4800600" cy="4206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Intrinsic bulk contribution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2286000"/>
            <a:ext cx="4370832" cy="6583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868A"/>
                </a:solidFill>
                <a:latin typeface="Aptos"/>
              </a:rPr>
              <a:t>R_bulk ≈ BLT / (k⊥ × A)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112" y="3383280"/>
            <a:ext cx="4663440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Reducing BLT or increasing k lowers the ideal layer resistance.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71616" y="1325880"/>
            <a:ext cx="5440680" cy="289864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0216" y="1572768"/>
            <a:ext cx="4919472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Installed interface contribution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81928" y="2267712"/>
            <a:ext cx="5020056" cy="7132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63A21"/>
                </a:solidFill>
                <a:latin typeface="Aptos"/>
              </a:rPr>
              <a:t>R ≈ R_c,die + BLT/(k⊥ A_eff) + R_c,lid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45936" y="3383280"/>
            <a:ext cx="4681728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Real contact adds pressure-, surface- and temperature-dependent effects.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16736" y="4617720"/>
            <a:ext cx="9601200" cy="914400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18488" y="4864608"/>
            <a:ext cx="9025128" cy="34747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83A52"/>
                </a:solidFill>
                <a:latin typeface="Aptos"/>
              </a:rPr>
              <a:t>Reported metric:  R_eff = (peak die temperature − 25 °C) / 700 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Numerical credibility and verification gates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VALIDATION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1417320"/>
            <a:ext cx="3547872" cy="198424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1618488"/>
            <a:ext cx="3273552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3868A"/>
                </a:solidFill>
                <a:latin typeface="Aptos"/>
              </a:rPr>
              <a:t>0.256%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2249424"/>
            <a:ext cx="3273552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Grease medium-to-fine ΔTmax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43400" y="1417320"/>
            <a:ext cx="3547872" cy="198424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0560" y="1618488"/>
            <a:ext cx="3273552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896A"/>
                </a:solidFill>
                <a:latin typeface="Aptos"/>
              </a:rPr>
              <a:t>&lt;0.004 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2249424"/>
            <a:ext cx="3273552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Independent carbon reproduction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28431" y="1417320"/>
            <a:ext cx="3547872" cy="198424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65592" y="1618488"/>
            <a:ext cx="3273552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3868A"/>
                </a:solidFill>
                <a:latin typeface="Aptos"/>
              </a:rPr>
              <a:t>0.000031 °C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65592" y="2249424"/>
            <a:ext cx="3273552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DOE control-point difference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3232" y="3730752"/>
            <a:ext cx="10780776" cy="1591056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7552" y="3959352"/>
            <a:ext cx="10268712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What these checks do — and do not — prove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" y="4498848"/>
            <a:ext cx="10186416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3344"/>
                </a:solidFill>
                <a:latin typeface="Aptos"/>
              </a:rPr>
              <a:t>They support solver consistency, not experimental validation. The later 700-W results use ideal thermal contacts.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Baseline comparison: grease, carbon and indium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MATERIAL SCREEN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Project 700-W simulation. Materials have different k and BLT—this is a screen, not an isolated k effect.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" y="1335024"/>
            <a:ext cx="7571231" cy="411480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1975104"/>
            <a:ext cx="2523744" cy="710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Grease  •  5 / 90 µm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02152" y="1993392"/>
            <a:ext cx="3657600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502152" y="1993392"/>
            <a:ext cx="3348467" cy="320040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23771" y="2002536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102.534°C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" y="2886456"/>
            <a:ext cx="2523744" cy="710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Carbon  •  21 / 250 µm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02152" y="2904744"/>
            <a:ext cx="3657600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02152" y="2904744"/>
            <a:ext cx="3048348" cy="320040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23652" y="2913888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93.344°C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797808"/>
            <a:ext cx="2523744" cy="710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Indium  •  86 / 400 µm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02152" y="3816095"/>
            <a:ext cx="3657600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502152" y="3816095"/>
            <a:ext cx="2674064" cy="320040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49368" y="3825240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81.883°C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348472" y="1335024"/>
            <a:ext cx="3163824" cy="411480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22792" y="1655064"/>
            <a:ext cx="267919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868A"/>
                </a:solidFill>
                <a:latin typeface="Aptos"/>
              </a:rPr>
              <a:t>−9.19 °C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22792" y="2267712"/>
            <a:ext cx="2587752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Carbon vs. grease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595360" y="2990088"/>
            <a:ext cx="2633472" cy="0"/>
          </a:xfrm>
          <a:prstGeom prst="line">
            <a:avLst/>
          </a:prstGeom>
          <a:ln w="1270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622792" y="3300984"/>
            <a:ext cx="267919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A896A"/>
                </a:solidFill>
                <a:latin typeface="Aptos"/>
              </a:rPr>
              <a:t>−20.65 °C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22792" y="3913632"/>
            <a:ext cx="2596896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Indium vs. grease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03920" y="4892040"/>
            <a:ext cx="283464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63A21"/>
                </a:solidFill>
                <a:latin typeface="Aptos"/>
              </a:rPr>
              <a:t>Nominal ideal contact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Contact retention affects hotspot temperature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INTERFACE RETENTION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Coverage fractions motivated by Yi et al. (2025). Temperature results are project idealized cases.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1353312"/>
            <a:ext cx="7406640" cy="405993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106424" y="4032504"/>
            <a:ext cx="6373368" cy="0"/>
          </a:xfrm>
          <a:prstGeom prst="line">
            <a:avLst/>
          </a:prstGeom>
          <a:ln w="11430">
            <a:solidFill>
              <a:srgbClr val="657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464868" y="3209099"/>
            <a:ext cx="1186891" cy="823404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" y="4142232"/>
            <a:ext cx="2121408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100%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55140" y="2907347"/>
            <a:ext cx="1406347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93.3°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22852" y="3195229"/>
            <a:ext cx="1186891" cy="837274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09544" y="4142232"/>
            <a:ext cx="2121408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88.22%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13124" y="2893477"/>
            <a:ext cx="1406347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93.7°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80836" y="2472325"/>
            <a:ext cx="1186891" cy="1560178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67527" y="4142232"/>
            <a:ext cx="2121408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64.82%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71108" y="2170573"/>
            <a:ext cx="1406347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109.8°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29600" y="1353312"/>
            <a:ext cx="3236976" cy="4059936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22208" y="1700784"/>
            <a:ext cx="2688336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Important distinction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31352" y="2404872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05088" y="2286000"/>
            <a:ext cx="2386584" cy="7955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Yi et al.: measured coverage ratios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31352" y="3227832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05088" y="3108960"/>
            <a:ext cx="2386584" cy="7955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Here: assumed missing-contact shapes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531352" y="4050791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05088" y="3931920"/>
            <a:ext cx="2386584" cy="7955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Not a measured failure progression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40" y="5696712"/>
            <a:ext cx="1022299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The 88.22% retained-area case changes little; a more severe 64.82% ring loss changes much more.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Equal coverage does not imply equal heat removal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CONTACT TOPOLOGY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Project topology scenarios at 64.82% area; severe conductive blockage, not physical aging predictions.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1307592"/>
            <a:ext cx="3685032" cy="416052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426464" y="1709928"/>
            <a:ext cx="2029968" cy="2029968"/>
          </a:xfrm>
          <a:prstGeom prst="rect">
            <a:avLst/>
          </a:prstGeom>
          <a:solidFill>
            <a:srgbClr val="E7DCD8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624275" y="1907739"/>
            <a:ext cx="1634344" cy="1634344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4672" y="3941063"/>
            <a:ext cx="3300984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Peripheral 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4553712"/>
            <a:ext cx="3328416" cy="4754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A896A"/>
                </a:solidFill>
                <a:latin typeface="Aptos"/>
              </a:rPr>
              <a:t>109.8 °C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71416" y="1307592"/>
            <a:ext cx="3685032" cy="416052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294376" y="1709928"/>
            <a:ext cx="2029968" cy="2029968"/>
          </a:xfrm>
          <a:prstGeom prst="rect">
            <a:avLst/>
          </a:prstGeom>
          <a:solidFill>
            <a:srgbClr val="E7DCD8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94376" y="1709928"/>
            <a:ext cx="1315825" cy="2029968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2584" y="3941063"/>
            <a:ext cx="3300984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One edge band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45152" y="4553712"/>
            <a:ext cx="3328416" cy="4754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963A21"/>
                </a:solidFill>
                <a:latin typeface="Aptos"/>
              </a:rPr>
              <a:t>417.8 °C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339328" y="1307592"/>
            <a:ext cx="3685032" cy="416052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62288" y="1709928"/>
            <a:ext cx="2029968" cy="2029968"/>
          </a:xfrm>
          <a:prstGeom prst="rect">
            <a:avLst/>
          </a:prstGeom>
          <a:solidFill>
            <a:srgbClr val="E7DCD8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62288" y="1709928"/>
            <a:ext cx="2029968" cy="2029968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575257" y="2122897"/>
            <a:ext cx="1204029" cy="1204029"/>
          </a:xfrm>
          <a:prstGeom prst="rect">
            <a:avLst/>
          </a:prstGeom>
          <a:solidFill>
            <a:srgbClr val="E7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3941063"/>
            <a:ext cx="3300984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Central void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13064" y="4553712"/>
            <a:ext cx="3328416" cy="4754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963A21"/>
                </a:solidFill>
                <a:latin typeface="Aptos"/>
              </a:rPr>
              <a:t>400.5 °C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9808" y="5760720"/>
            <a:ext cx="1086307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57585"/>
                </a:solidFill>
                <a:latin typeface="Aptos"/>
              </a:rPr>
              <a:t>All three scenarios assume 64.82% retained TIM1 area; topology sketches are illustrative.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The full 3 × 3 conductivity–thickness thermal DOE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NINE SOLVED CASES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19656" y="1362456"/>
            <a:ext cx="2642616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100 µm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62272" y="1362456"/>
            <a:ext cx="2642616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250 µm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04888" y="1362456"/>
            <a:ext cx="2642616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400 µm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2112264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15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43430" y="1880006"/>
            <a:ext cx="2587752" cy="1114044"/>
          </a:xfrm>
          <a:prstGeom prst="roundRect">
            <a:avLst/>
          </a:prstGeom>
          <a:solidFill>
            <a:srgbClr val="DC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57146" y="218511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85.490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486046" y="1880006"/>
            <a:ext cx="2587752" cy="1114044"/>
          </a:xfrm>
          <a:prstGeom prst="roundRect">
            <a:avLst/>
          </a:prstGeom>
          <a:solidFill>
            <a:srgbClr val="DAB2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99762" y="218511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100.323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28662" y="1880006"/>
            <a:ext cx="2587752" cy="1114044"/>
          </a:xfrm>
          <a:prstGeom prst="roundRect">
            <a:avLst/>
          </a:prstGeom>
          <a:solidFill>
            <a:srgbClr val="D8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42378" y="218511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114.389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285744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21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843430" y="3053486"/>
            <a:ext cx="2587752" cy="1114044"/>
          </a:xfrm>
          <a:prstGeom prst="roundRect">
            <a:avLst/>
          </a:prstGeom>
          <a:solidFill>
            <a:srgbClr val="DCEA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857146" y="335859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82.625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86046" y="3053486"/>
            <a:ext cx="2587752" cy="1114044"/>
          </a:xfrm>
          <a:prstGeom prst="roundRect">
            <a:avLst/>
          </a:prstGeom>
          <a:solidFill>
            <a:srgbClr val="DBC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99762" y="335859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93.344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128662" y="3053486"/>
            <a:ext cx="2587752" cy="1114044"/>
          </a:xfrm>
          <a:prstGeom prst="roundRect">
            <a:avLst/>
          </a:prstGeom>
          <a:solidFill>
            <a:srgbClr val="D9A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42378" y="335859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103.544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4459224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30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843430" y="4226966"/>
            <a:ext cx="2587752" cy="1114044"/>
          </a:xfrm>
          <a:prstGeom prst="roundRect">
            <a:avLst/>
          </a:prstGeom>
          <a:solidFill>
            <a:srgbClr val="DDF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57146" y="453207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80.455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486046" y="4226966"/>
            <a:ext cx="2587752" cy="1114044"/>
          </a:xfrm>
          <a:prstGeom prst="roundRect">
            <a:avLst/>
          </a:prstGeom>
          <a:solidFill>
            <a:srgbClr val="DBD9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99762" y="453207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88.026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128662" y="4226966"/>
            <a:ext cx="2587752" cy="1114044"/>
          </a:xfrm>
          <a:prstGeom prst="roundRect">
            <a:avLst/>
          </a:prstGeom>
          <a:solidFill>
            <a:srgbClr val="DAC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42378" y="453207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95.194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601200" y="1527048"/>
            <a:ext cx="2011680" cy="358444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1512" y="1792224"/>
            <a:ext cx="2206447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868A"/>
                </a:solidFill>
                <a:latin typeface="Aptos"/>
              </a:rPr>
              <a:t>THERMAL BEST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20656" y="2276856"/>
            <a:ext cx="1682496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A896A"/>
                </a:solidFill>
                <a:latin typeface="Aptos"/>
              </a:rPr>
              <a:t>80.455 °C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20656" y="2990088"/>
            <a:ext cx="1645920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k =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100 µm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20656" y="4123944"/>
            <a:ext cx="1627632" cy="7315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Lowest among nine sampled points only.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40" y="5797296"/>
            <a:ext cx="10351008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57585"/>
                </a:solidFill>
                <a:latin typeface="Aptos"/>
              </a:rPr>
              <a:t>Warmer colors indicate higher modeled peak die temperature; none of the grid values is experimental.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The thermal trend: thin BLT and higher k both help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PARAMETER SENSITIVITY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" y="1271016"/>
            <a:ext cx="7461504" cy="4279392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499616" y="4389119"/>
            <a:ext cx="6172200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23544" y="428853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75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499616" y="3755897"/>
            <a:ext cx="6172200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23544" y="3655313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86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499616" y="3122675"/>
            <a:ext cx="6172200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23544" y="3022091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98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499616" y="2489453"/>
            <a:ext cx="6172200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23544" y="2388869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109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499616" y="1856231"/>
            <a:ext cx="6172200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23544" y="1755647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79576" y="449884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100 µm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5676" y="449884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250 µm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51776" y="449884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400 µm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58468" y="3757527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44568" y="2922631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630668" y="2130906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1499616" y="2963779"/>
            <a:ext cx="3086100" cy="834896"/>
          </a:xfrm>
          <a:prstGeom prst="line">
            <a:avLst/>
          </a:prstGeom>
          <a:ln w="2794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585716" y="2172054"/>
            <a:ext cx="3086100" cy="791725"/>
          </a:xfrm>
          <a:prstGeom prst="line">
            <a:avLst/>
          </a:prstGeom>
          <a:ln w="2794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1572768" y="4773168"/>
            <a:ext cx="146304" cy="91440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792224" y="4700016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15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58468" y="3918788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544568" y="3315454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630668" y="2741332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1499616" y="3356602"/>
            <a:ext cx="3086100" cy="603334"/>
          </a:xfrm>
          <a:prstGeom prst="line">
            <a:avLst/>
          </a:prstGeom>
          <a:ln w="27940">
            <a:solidFill>
              <a:srgbClr val="138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585716" y="2782480"/>
            <a:ext cx="3086100" cy="574122"/>
          </a:xfrm>
          <a:prstGeom prst="line">
            <a:avLst/>
          </a:prstGeom>
          <a:ln w="27940">
            <a:solidFill>
              <a:srgbClr val="138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630168" y="4773168"/>
            <a:ext cx="146304" cy="91440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49624" y="4700016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21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458468" y="4040929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544568" y="3614785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630668" y="3211324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1499616" y="3655933"/>
            <a:ext cx="3086100" cy="426144"/>
          </a:xfrm>
          <a:prstGeom prst="line">
            <a:avLst/>
          </a:prstGeom>
          <a:ln w="27940">
            <a:solidFill>
              <a:srgbClr val="2A89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585716" y="3252472"/>
            <a:ext cx="3086100" cy="403461"/>
          </a:xfrm>
          <a:prstGeom prst="line">
            <a:avLst/>
          </a:prstGeom>
          <a:ln w="27940">
            <a:solidFill>
              <a:srgbClr val="2A89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5687568" y="4773168"/>
            <a:ext cx="146304" cy="91440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07024" y="4700016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30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348472" y="1271016"/>
            <a:ext cx="3081528" cy="427939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586216" y="1572768"/>
            <a:ext cx="2660904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Isolated contrasts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95360" y="2231136"/>
            <a:ext cx="262432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3868A"/>
                </a:solidFill>
                <a:latin typeface="Aptos"/>
              </a:rPr>
              <a:t>−10.719 °C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95360" y="2697480"/>
            <a:ext cx="2660904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250 → 100 µm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at k = 21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8586216" y="3502152"/>
            <a:ext cx="2542032" cy="0"/>
          </a:xfrm>
          <a:prstGeom prst="line">
            <a:avLst/>
          </a:prstGeom>
          <a:ln w="1524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595360" y="3749039"/>
            <a:ext cx="262432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A896A"/>
                </a:solidFill>
                <a:latin typeface="Aptos"/>
              </a:rPr>
              <a:t>−5.318 °C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595360" y="4233672"/>
            <a:ext cx="2660904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k: 21 →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at 250 µm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4400" y="5843016"/>
            <a:ext cx="1046073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Trend is bounded to k = 15–30 W/(m·K) and BLT = 100–400 µm; not a continuous global optimum.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Does the shortlist persist at 88.22% retention?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CONTACT ROBUSTNESS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1362456"/>
            <a:ext cx="7955279" cy="41788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133856" y="4114800"/>
            <a:ext cx="6922008" cy="0"/>
          </a:xfrm>
          <a:prstGeom prst="line">
            <a:avLst/>
          </a:prstGeom>
          <a:ln w="11430">
            <a:solidFill>
              <a:srgbClr val="657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411833" y="2429339"/>
            <a:ext cx="965606" cy="1685460"/>
          </a:xfrm>
          <a:prstGeom prst="rect">
            <a:avLst/>
          </a:prstGeom>
          <a:solidFill>
            <a:srgbClr val="657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8992" y="4224528"/>
            <a:ext cx="1719072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21 / 250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full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02105" y="2127587"/>
            <a:ext cx="1185062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93.3°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167481" y="2407029"/>
            <a:ext cx="965606" cy="1707770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34640" y="4224528"/>
            <a:ext cx="1719072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21 / 250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88.22%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57753" y="2105277"/>
            <a:ext cx="1185062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93.7°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23129" y="2793882"/>
            <a:ext cx="965606" cy="1320917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90288" y="4224528"/>
            <a:ext cx="1719072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30 / 250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88.22%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13401" y="2492130"/>
            <a:ext cx="1185062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88.3°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8777" y="3345859"/>
            <a:ext cx="965606" cy="768940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45936" y="4224528"/>
            <a:ext cx="1719072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30 / 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88.22%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69049" y="3044107"/>
            <a:ext cx="1185062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80.7°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759952" y="1362456"/>
            <a:ext cx="2670048" cy="417880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043416" y="1673352"/>
            <a:ext cx="216712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896A"/>
                </a:solidFill>
                <a:latin typeface="Aptos"/>
              </a:rPr>
              <a:t>80.650 °C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34272" y="2276856"/>
            <a:ext cx="2139696" cy="10241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Thin/high-k remains thermally strongest of the four tested cases.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034272" y="3703320"/>
            <a:ext cx="2093976" cy="0"/>
          </a:xfrm>
          <a:prstGeom prst="line">
            <a:avLst/>
          </a:prstGeom>
          <a:ln w="1524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34272" y="3886200"/>
            <a:ext cx="2130552" cy="1280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63A21"/>
                </a:solidFill>
                <a:latin typeface="Aptos"/>
              </a:rPr>
              <a:t>Fixed idealized retained footprint—not a physical peel/delamination model.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4400" y="5806440"/>
            <a:ext cx="1033272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57585"/>
                </a:solidFill>
                <a:latin typeface="Aptos"/>
              </a:rPr>
              <a:t>The four-case result includes recovery of an initially interrupted solver run without parameter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"/>
              </a:rPr>
              <a:t>Thermal fields transferred into a common structural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MECHANICAL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5488" y="1773936"/>
            <a:ext cx="2697480" cy="251460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7512" y="2039112"/>
            <a:ext cx="2313432" cy="128016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2432304"/>
            <a:ext cx="230428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Icepak fields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145536"/>
            <a:ext cx="2340864" cy="6766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9 independent solved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k–BLT conditions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191256" y="2990088"/>
            <a:ext cx="219456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310128" y="289864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10128" y="299008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3419856" y="1773936"/>
            <a:ext cx="2697480" cy="251460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11880" y="2039112"/>
            <a:ext cx="2313432" cy="128016"/>
          </a:xfrm>
          <a:prstGeom prst="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11880" y="2432304"/>
            <a:ext cx="230428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Reduced handoff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3592" y="3145536"/>
            <a:ext cx="2340864" cy="6766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Die-class and layer-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average temperatures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35624" y="2990088"/>
            <a:ext cx="219456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254496" y="289864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254496" y="299008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364224" y="1773936"/>
            <a:ext cx="2697480" cy="251460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556248" y="2039112"/>
            <a:ext cx="2313432" cy="128016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56248" y="2432304"/>
            <a:ext cx="230428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MAPDL quarter model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37960" y="3145536"/>
            <a:ext cx="2340864" cy="6766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SOLID186, fully bonded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one-way response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079992" y="2990088"/>
            <a:ext cx="219456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198864" y="289864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9198864" y="299008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9308592" y="1773936"/>
            <a:ext cx="2697480" cy="251460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500616" y="2039112"/>
            <a:ext cx="2313432" cy="128016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00616" y="2432304"/>
            <a:ext cx="230428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Compare outputs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82328" y="3145536"/>
            <a:ext cx="2340864" cy="6766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TIM stress &amp; strain;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lid-top warpage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24128" y="4837176"/>
            <a:ext cx="10168128" cy="758952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53312" y="5020056"/>
            <a:ext cx="9518904" cy="4206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Reference carbon mechanics held fixed: E = 1.0 MPa; ν = 0.49; CTE = 180 ppm/K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"/>
              </a:rPr>
              <a:t>Mechanical-property sensitivity: warpage is not enough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EFFECTIVE PROPERTIES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6" y="1362456"/>
            <a:ext cx="6995160" cy="4133087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0976" y="1600200"/>
            <a:ext cx="6400800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Warpage for two different thermal designs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" y="2185416"/>
            <a:ext cx="1828800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Lower modulus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15768" y="2185416"/>
            <a:ext cx="2745028" cy="173736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9944" y="215798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17.38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15768" y="2459736"/>
            <a:ext cx="2560552" cy="173736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9944" y="243230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16.21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" y="3099816"/>
            <a:ext cx="1828800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Reference modulus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15768" y="3099816"/>
            <a:ext cx="3002789" cy="173736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9944" y="307238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19.01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15768" y="3374136"/>
            <a:ext cx="2709491" cy="173736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9944" y="334670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17.16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4014216"/>
            <a:ext cx="1828800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Higher modulus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15768" y="4014216"/>
            <a:ext cx="3138935" cy="173736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9944" y="398678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19.87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15768" y="4288536"/>
            <a:ext cx="2777722" cy="173736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9944" y="426110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17.59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14984" y="5010912"/>
            <a:ext cx="182880" cy="109728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252728" y="4919472"/>
            <a:ext cx="2359152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k = 21, 250 µm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9624" y="5010912"/>
            <a:ext cx="182880" cy="109728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96512" y="4919472"/>
            <a:ext cx="2596896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k = 30, 100 µm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27264" y="1362456"/>
            <a:ext cx="3611880" cy="4133087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92440" y="1700784"/>
            <a:ext cx="3090672" cy="5303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963A21"/>
                </a:solidFill>
                <a:latin typeface="Aptos"/>
              </a:rPr>
              <a:t>+27.25% stress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92440" y="2313432"/>
            <a:ext cx="2962656" cy="4480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Higher-modulus pair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2440" y="2971800"/>
            <a:ext cx="3090672" cy="5303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963A21"/>
                </a:solidFill>
                <a:latin typeface="Aptos"/>
              </a:rPr>
              <a:t>+27.32% strain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92440" y="3593592"/>
            <a:ext cx="2907792" cy="6400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Warpage improved while average stress and strain worsened.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"/>
              </a:rPr>
              <a:t>Mesh refinement: trust the averages, not peak stress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VALIDATION / LIMITS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5800" y="1335024"/>
            <a:ext cx="10835640" cy="433425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" y="2011680"/>
            <a:ext cx="1993391" cy="58750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344"/>
                </a:solidFill>
                <a:latin typeface="Aptos"/>
              </a:rPr>
              <a:t>Mean stress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099815" y="2029968"/>
            <a:ext cx="7296912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099815" y="2029968"/>
            <a:ext cx="78275" cy="320040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51243" y="2039112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0.59%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" y="2800350"/>
            <a:ext cx="1993391" cy="58750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Mean strain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099815" y="2818638"/>
            <a:ext cx="7296912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99815" y="2818638"/>
            <a:ext cx="260035" cy="320040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3003" y="2827782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1.96%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6696" y="3589020"/>
            <a:ext cx="1993391" cy="58750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Lid warpage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099815" y="3607308"/>
            <a:ext cx="7296912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099815" y="3607308"/>
            <a:ext cx="27432" cy="320040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399" y="3616452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0.04%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6696" y="4377690"/>
            <a:ext cx="1993391" cy="58750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Local peak stress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099815" y="4395978"/>
            <a:ext cx="7296912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099815" y="4395978"/>
            <a:ext cx="6660090" cy="320040"/>
          </a:xfrm>
          <a:prstGeom prst="round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33058" y="4405122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50.20%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1288" y="5138928"/>
            <a:ext cx="9912096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63A21"/>
                </a:solidFill>
                <a:latin typeface="Aptos"/>
              </a:rPr>
              <a:t>Absolute intermediate-to-fine changes; peak stress lacks mesh convergence.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" y="5797296"/>
            <a:ext cx="10268712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The report does not use pointwise peak stress as a quantitative failure or fatigue criterion.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A fairer mechanical comparison: nine matched cases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DESIGN OF EXPERIMENTS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55064" y="1371600"/>
            <a:ext cx="257556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100 µm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0624" y="1371600"/>
            <a:ext cx="257556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250 µm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06184" y="1371600"/>
            <a:ext cx="257556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400 µm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2121408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15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78838" y="1889150"/>
            <a:ext cx="2520695" cy="1159764"/>
          </a:xfrm>
          <a:prstGeom prst="roundRect">
            <a:avLst/>
          </a:prstGeom>
          <a:solidFill>
            <a:srgbClr val="E3EA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92554" y="22061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85.5°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4398" y="1889150"/>
            <a:ext cx="2520695" cy="1159764"/>
          </a:xfrm>
          <a:prstGeom prst="roundRect">
            <a:avLst/>
          </a:prstGeom>
          <a:solidFill>
            <a:srgbClr val="E9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68114" y="22061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100.3°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29958" y="1889150"/>
            <a:ext cx="2520695" cy="1159764"/>
          </a:xfrm>
          <a:prstGeom prst="roundRect">
            <a:avLst/>
          </a:prstGeom>
          <a:solidFill>
            <a:srgbClr val="EFC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43674" y="22061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114.4°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3340608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21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678838" y="3108350"/>
            <a:ext cx="2520695" cy="1159764"/>
          </a:xfrm>
          <a:prstGeom prst="roundRect">
            <a:avLst/>
          </a:prstGeom>
          <a:solidFill>
            <a:srgbClr val="E2E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92554" y="34253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82.6°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54398" y="3108350"/>
            <a:ext cx="2520695" cy="1159764"/>
          </a:xfrm>
          <a:prstGeom prst="roundRect">
            <a:avLst/>
          </a:prstGeom>
          <a:solidFill>
            <a:srgbClr val="E6D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68114" y="34253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93.3°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829958" y="3108350"/>
            <a:ext cx="2520695" cy="1159764"/>
          </a:xfrm>
          <a:prstGeom prst="roundRect">
            <a:avLst/>
          </a:prstGeom>
          <a:solidFill>
            <a:srgbClr val="EAD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43674" y="34253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103.5°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8368" y="4559808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30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678838" y="4327550"/>
            <a:ext cx="2520695" cy="1159764"/>
          </a:xfrm>
          <a:prstGeom prst="roundRect">
            <a:avLst/>
          </a:prstGeom>
          <a:solidFill>
            <a:srgbClr val="E2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692554" y="46445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80.5°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254398" y="4327550"/>
            <a:ext cx="2520695" cy="1159764"/>
          </a:xfrm>
          <a:prstGeom prst="roundRect">
            <a:avLst/>
          </a:prstGeom>
          <a:solidFill>
            <a:srgbClr val="E4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68114" y="46445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88.0°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29958" y="4327550"/>
            <a:ext cx="2520695" cy="1159764"/>
          </a:xfrm>
          <a:prstGeom prst="roundRect">
            <a:avLst/>
          </a:prstGeom>
          <a:solidFill>
            <a:srgbClr val="E7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43674" y="46445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95.2°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509760" y="1353312"/>
            <a:ext cx="2066543" cy="422452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1784" y="1664208"/>
            <a:ext cx="1755648" cy="6400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3A52"/>
                </a:solidFill>
                <a:latin typeface="Aptos"/>
              </a:rPr>
              <a:t>9 thermal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3A52"/>
                </a:solidFill>
                <a:latin typeface="Aptos"/>
              </a:rPr>
              <a:t>fields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9720072" y="2615184"/>
            <a:ext cx="1481328" cy="0"/>
          </a:xfrm>
          <a:prstGeom prst="line">
            <a:avLst/>
          </a:prstGeom>
          <a:ln w="2540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9701784" y="2953512"/>
            <a:ext cx="1755648" cy="6583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868A"/>
                </a:solidFill>
                <a:latin typeface="Aptos"/>
              </a:rPr>
              <a:t>9 matched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868A"/>
                </a:solidFill>
                <a:latin typeface="Aptos"/>
              </a:rPr>
              <a:t>mechanical runs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701784" y="4215384"/>
            <a:ext cx="1755648" cy="7863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03344"/>
                </a:solidFill>
                <a:latin typeface="Aptos"/>
              </a:rPr>
              <a:t>Same modulus, CTE, ν and structural protocol.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2688" y="5797296"/>
            <a:ext cx="1033272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Conductivity and BLT change; each corresponding solved thermal condition feeds the same MID-property model.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Average TIM stress is lowest at 250 µm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MATCHED MECHANICS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10512" y="1335024"/>
            <a:ext cx="2676143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100 µm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6656" y="1335024"/>
            <a:ext cx="2676143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250 µm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62799" y="1335024"/>
            <a:ext cx="2676143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400 µm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" y="2084832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15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34286" y="1852574"/>
            <a:ext cx="2621279" cy="1138428"/>
          </a:xfrm>
          <a:prstGeom prst="roundRect">
            <a:avLst/>
          </a:prstGeom>
          <a:solidFill>
            <a:srgbClr val="D6B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48002" y="2164019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0.012094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10430" y="1852574"/>
            <a:ext cx="2621279" cy="1138428"/>
          </a:xfrm>
          <a:prstGeom prst="roundRect">
            <a:avLst/>
          </a:prstGeom>
          <a:solidFill>
            <a:srgbClr val="D7C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4146" y="2164019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0.012014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86574" y="1852574"/>
            <a:ext cx="2621279" cy="1138428"/>
          </a:xfrm>
          <a:prstGeom prst="roundRect">
            <a:avLst/>
          </a:prstGeom>
          <a:solidFill>
            <a:srgbClr val="D68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00290" y="2164019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0.013286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" y="3282696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21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834286" y="3050438"/>
            <a:ext cx="2621279" cy="1138428"/>
          </a:xfrm>
          <a:prstGeom prst="roundRect">
            <a:avLst/>
          </a:prstGeom>
          <a:solidFill>
            <a:srgbClr val="D7C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848002" y="3361883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0.011960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10430" y="3050438"/>
            <a:ext cx="2621279" cy="1138428"/>
          </a:xfrm>
          <a:prstGeom prst="roundRect">
            <a:avLst/>
          </a:prstGeom>
          <a:solidFill>
            <a:srgbClr val="D7DC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24146" y="3361883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0.011339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186574" y="3050438"/>
            <a:ext cx="2621279" cy="1138428"/>
          </a:xfrm>
          <a:prstGeom prst="roundRect">
            <a:avLst/>
          </a:prstGeom>
          <a:solidFill>
            <a:srgbClr val="D6B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00290" y="3361883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0.012153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" y="4480560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30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834286" y="4248302"/>
            <a:ext cx="2621279" cy="1138428"/>
          </a:xfrm>
          <a:prstGeom prst="roundRect">
            <a:avLst/>
          </a:prstGeom>
          <a:solidFill>
            <a:srgbClr val="D7C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48002" y="4559747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0.011866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10430" y="4248302"/>
            <a:ext cx="2621279" cy="1138428"/>
          </a:xfrm>
          <a:prstGeom prst="roundRect">
            <a:avLst/>
          </a:prstGeom>
          <a:solidFill>
            <a:srgbClr val="D8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24146" y="4559747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0.010841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186574" y="4248302"/>
            <a:ext cx="2621279" cy="1138428"/>
          </a:xfrm>
          <a:prstGeom prst="roundRect">
            <a:avLst/>
          </a:prstGeom>
          <a:solidFill>
            <a:srgbClr val="D7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200290" y="4559747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0.011306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537192" y="1472184"/>
            <a:ext cx="1984248" cy="388620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1784" y="1746504"/>
            <a:ext cx="2316175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868A"/>
                </a:solidFill>
                <a:latin typeface="Aptos"/>
              </a:rPr>
              <a:t>STRESS MINIMUM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3496" y="2304288"/>
            <a:ext cx="1691640" cy="57607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A896A"/>
                </a:solidFill>
                <a:latin typeface="Aptos"/>
              </a:rPr>
              <a:t>0.010841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92640" y="2834640"/>
            <a:ext cx="169164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MPa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701784" y="3364992"/>
            <a:ext cx="1627632" cy="8229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k =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BLT = 250 µm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01784" y="4434840"/>
            <a:ext cx="1600200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57585"/>
                </a:solidFill>
                <a:latin typeface="Aptos"/>
              </a:rPr>
              <a:t>Within sampled, assumed model.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6112" y="5779008"/>
            <a:ext cx="10533888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At every k in {15, 21, 30} W/(m·K), the sampled 250-µm BLT minimizes mean stress and strain.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Thinner BLT improves modeled warpage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MATCHED MECHANICS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9224" y="1371600"/>
            <a:ext cx="7699248" cy="410565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517904" y="4297679"/>
            <a:ext cx="62453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41832" y="419709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16.0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517904" y="3703319"/>
            <a:ext cx="62453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41832" y="360273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18.0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517904" y="3108959"/>
            <a:ext cx="62453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41832" y="300837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20.0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517904" y="2514599"/>
            <a:ext cx="62453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41832" y="241401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22.0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517904" y="1920239"/>
            <a:ext cx="62453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41832" y="181965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24.0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97864" y="440740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100 µm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20540" y="440740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250 µm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43216" y="440740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400 µm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76756" y="3480595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99432" y="2786085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722108" y="2026790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1517904" y="2827233"/>
            <a:ext cx="3122676" cy="694510"/>
          </a:xfrm>
          <a:prstGeom prst="line">
            <a:avLst/>
          </a:prstGeom>
          <a:ln w="2794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40580" y="2067938"/>
            <a:ext cx="3122676" cy="759295"/>
          </a:xfrm>
          <a:prstGeom prst="line">
            <a:avLst/>
          </a:prstGeom>
          <a:ln w="2794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1591056" y="4681727"/>
            <a:ext cx="146304" cy="91440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810512" y="4608575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15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76756" y="3728145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599432" y="3361425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22108" y="2920410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1517904" y="3402573"/>
            <a:ext cx="3122676" cy="366720"/>
          </a:xfrm>
          <a:prstGeom prst="line">
            <a:avLst/>
          </a:prstGeom>
          <a:ln w="27940">
            <a:solidFill>
              <a:srgbClr val="138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640580" y="2961558"/>
            <a:ext cx="3122676" cy="441015"/>
          </a:xfrm>
          <a:prstGeom prst="line">
            <a:avLst/>
          </a:prstGeom>
          <a:ln w="27940">
            <a:solidFill>
              <a:srgbClr val="138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672840" y="4681727"/>
            <a:ext cx="146304" cy="91440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92296" y="4608575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21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476756" y="3913289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599432" y="3784015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722108" y="3575098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1517904" y="3825163"/>
            <a:ext cx="3122676" cy="129274"/>
          </a:xfrm>
          <a:prstGeom prst="line">
            <a:avLst/>
          </a:prstGeom>
          <a:ln w="27940">
            <a:solidFill>
              <a:srgbClr val="2A89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640580" y="3616246"/>
            <a:ext cx="3122676" cy="208917"/>
          </a:xfrm>
          <a:prstGeom prst="line">
            <a:avLst/>
          </a:prstGeom>
          <a:ln w="27940">
            <a:solidFill>
              <a:srgbClr val="2A89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5754624" y="4681727"/>
            <a:ext cx="146304" cy="91440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74080" y="4608575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30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513064" y="1371600"/>
            <a:ext cx="2916936" cy="4105656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41664" y="1719072"/>
            <a:ext cx="2414016" cy="4480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k = 30 W/(m·K)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750808" y="2359152"/>
            <a:ext cx="2404872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868A"/>
                </a:solidFill>
                <a:latin typeface="Aptos"/>
              </a:rPr>
              <a:t>17.155 µm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750808" y="2907792"/>
            <a:ext cx="2395728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Lowest modeled lid warpage among nine cases.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8750808" y="3849624"/>
            <a:ext cx="2386584" cy="0"/>
          </a:xfrm>
          <a:prstGeom prst="line">
            <a:avLst/>
          </a:prstGeom>
          <a:ln w="1524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750808" y="4087368"/>
            <a:ext cx="2386584" cy="7863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63A21"/>
                </a:solidFill>
                <a:latin typeface="Aptos"/>
              </a:rPr>
              <a:t>But mean TIM stress is not minimized at 100 µm.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Holding conductivity fixed reveals the trade-off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CONTROLLED COMPARISON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13232" y="1353312"/>
            <a:ext cx="3465576" cy="1874519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0392" y="1554480"/>
            <a:ext cx="3191256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3868A"/>
                </a:solidFill>
                <a:latin typeface="Aptos"/>
              </a:rPr>
              <a:t>−7.571 °C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0392" y="2185416"/>
            <a:ext cx="3191256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Peak temperature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" y="2788920"/>
            <a:ext cx="3191256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250 → 100 µm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79976" y="1353312"/>
            <a:ext cx="3465576" cy="1874519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17136" y="1554480"/>
            <a:ext cx="3191256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896A"/>
                </a:solidFill>
                <a:latin typeface="Aptos"/>
              </a:rPr>
              <a:t>−2.47%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17136" y="2185416"/>
            <a:ext cx="3191256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Lid warpage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17136" y="2788920"/>
            <a:ext cx="3191256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250 → 100 µm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46720" y="1353312"/>
            <a:ext cx="3456432" cy="1874519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83880" y="1554480"/>
            <a:ext cx="3182112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963A21"/>
                </a:solidFill>
                <a:latin typeface="Aptos"/>
              </a:rPr>
              <a:t>+9.46%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83880" y="2185416"/>
            <a:ext cx="3182112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Mean TIM stress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83880" y="2788920"/>
            <a:ext cx="3182112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250 → 100 µm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69848" y="3575304"/>
            <a:ext cx="10067544" cy="1627632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453896" y="3794760"/>
            <a:ext cx="929944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3A52"/>
                </a:solidFill>
                <a:latin typeface="Aptos"/>
              </a:rPr>
              <a:t>All three changes occur at fixed k = 30 W/(m·K).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08176" y="4443984"/>
            <a:ext cx="9354312" cy="4206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Mean equivalent elastic strain rises by 10.86% when BLT falls from 250 to 100 µm.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The sampled thermal–mechanical decision map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MULTI-OBJECTIVE COMPARISON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1307592"/>
            <a:ext cx="7900416" cy="431596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600200" y="4553712"/>
            <a:ext cx="6364224" cy="0"/>
          </a:xfrm>
          <a:prstGeom prst="line">
            <a:avLst/>
          </a:prstGeom>
          <a:ln w="76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05256" y="4453127"/>
            <a:ext cx="59436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0.0104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600200" y="3865625"/>
            <a:ext cx="6364224" cy="0"/>
          </a:xfrm>
          <a:prstGeom prst="line">
            <a:avLst/>
          </a:prstGeom>
          <a:ln w="76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05256" y="3765041"/>
            <a:ext cx="59436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0.0112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600200" y="3177539"/>
            <a:ext cx="6364224" cy="0"/>
          </a:xfrm>
          <a:prstGeom prst="line">
            <a:avLst/>
          </a:prstGeom>
          <a:ln w="76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05256" y="3076956"/>
            <a:ext cx="59436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0.0121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600200" y="2489453"/>
            <a:ext cx="6364224" cy="0"/>
          </a:xfrm>
          <a:prstGeom prst="line">
            <a:avLst/>
          </a:prstGeom>
          <a:ln w="76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05256" y="2388870"/>
            <a:ext cx="59436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0.0129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600200" y="1801367"/>
            <a:ext cx="6364224" cy="0"/>
          </a:xfrm>
          <a:prstGeom prst="line">
            <a:avLst/>
          </a:prstGeom>
          <a:ln w="76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05256" y="1700783"/>
            <a:ext cx="59436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0.0138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600200" y="1801368"/>
            <a:ext cx="0" cy="2752344"/>
          </a:xfrm>
          <a:prstGeom prst="line">
            <a:avLst/>
          </a:prstGeom>
          <a:ln w="6985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298448" y="4681727"/>
            <a:ext cx="640080" cy="2011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78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191256" y="1801368"/>
            <a:ext cx="0" cy="2752344"/>
          </a:xfrm>
          <a:prstGeom prst="line">
            <a:avLst/>
          </a:prstGeom>
          <a:ln w="6985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4681727"/>
            <a:ext cx="640080" cy="2011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88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782312" y="1801368"/>
            <a:ext cx="0" cy="2752344"/>
          </a:xfrm>
          <a:prstGeom prst="line">
            <a:avLst/>
          </a:prstGeom>
          <a:ln w="6985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480560" y="4681727"/>
            <a:ext cx="640080" cy="2011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98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373368" y="1801368"/>
            <a:ext cx="0" cy="2752344"/>
          </a:xfrm>
          <a:prstGeom prst="line">
            <a:avLst/>
          </a:prstGeom>
          <a:ln w="6985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071616" y="4681727"/>
            <a:ext cx="640080" cy="2011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108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964424" y="1801368"/>
            <a:ext cx="0" cy="2752344"/>
          </a:xfrm>
          <a:prstGeom prst="line">
            <a:avLst/>
          </a:prstGeom>
          <a:ln w="6985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662672" y="4681727"/>
            <a:ext cx="640080" cy="2011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118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39780" y="3130276"/>
            <a:ext cx="104241" cy="104241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099793" y="3195037"/>
            <a:ext cx="104241" cy="104241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337772" y="2165336"/>
            <a:ext cx="104241" cy="104241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2283942" y="3238751"/>
            <a:ext cx="104241" cy="104241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989395" y="3741458"/>
            <a:ext cx="104241" cy="104241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612272" y="3082515"/>
            <a:ext cx="104241" cy="104241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938683" y="3314845"/>
            <a:ext cx="104241" cy="104241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91388" y="3101790"/>
            <a:ext cx="1280160" cy="2103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3A52"/>
                </a:solidFill>
                <a:latin typeface="Aptos"/>
              </a:rPr>
              <a:t>100 µm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143271" y="4144595"/>
            <a:ext cx="104241" cy="104241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95976" y="3931540"/>
            <a:ext cx="1280160" cy="2103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3A52"/>
                </a:solidFill>
                <a:latin typeface="Aptos"/>
              </a:rPr>
              <a:t>250 µm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83740" y="3768172"/>
            <a:ext cx="104241" cy="104241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38150" y="4974336"/>
            <a:ext cx="4356201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Peak die temperature [°C]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68512" y="1307592"/>
            <a:ext cx="2834640" cy="431596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915400" y="1645920"/>
            <a:ext cx="2395728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Two priorities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897112" y="2295144"/>
            <a:ext cx="2377440" cy="338328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88552" y="2354579"/>
            <a:ext cx="2194560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THERMAL PRIORITY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61120" y="2816352"/>
            <a:ext cx="2258568" cy="4480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30 W/m·K, 100 µm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897112" y="3502152"/>
            <a:ext cx="2377440" cy="338328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88552" y="3561588"/>
            <a:ext cx="2194560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LOWER TIM STRESS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61120" y="4023360"/>
            <a:ext cx="2276856" cy="4480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30 W/m·K, 250 µm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6696" y="5797296"/>
            <a:ext cx="1032357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Discrete sampled operating points, not a fitted Pareto frontier or globally proven optimum.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Engineering recommendation: two candidates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DECISION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1243584"/>
            <a:ext cx="5330952" cy="436168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" y="1389888"/>
            <a:ext cx="5093208" cy="429768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7" y="1472184"/>
            <a:ext cx="4974336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THERMAL STRETCH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" y="1993392"/>
            <a:ext cx="4910328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k = 30 W/(m·K)  |  BLT = 100 µm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4983" y="2624328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Clean Tmax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7832" y="2624328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80.455 °C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4983" y="3063240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88.22% Tmax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27832" y="3063240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80.650 °C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3" y="3502152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Mean stress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27832" y="3502152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0.011866 MPa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4983" y="3941064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Mean strain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27832" y="3941064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1.2279%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3" y="4379976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Lid warpage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27832" y="4379976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17.155 µm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695" y="5038344"/>
            <a:ext cx="467258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868A"/>
                </a:solidFill>
                <a:latin typeface="Aptos"/>
              </a:rPr>
              <a:t>Choose when modeled die temperature and warpage dominate.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0488" y="1243584"/>
            <a:ext cx="5330952" cy="436168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309359" y="1389888"/>
            <a:ext cx="5093208" cy="429768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73368" y="1472184"/>
            <a:ext cx="4974336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LOWER-STRESS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82512" y="1993392"/>
            <a:ext cx="4910328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k = 30 W/(m·K)  |  BLT = 250 µm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47103" y="2624328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Clean Tmax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59952" y="2624328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88.026 °C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47103" y="3063240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88.22% Tmax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59952" y="3063240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88.295 °C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47103" y="3502152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Mean stress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59952" y="3502152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0.010841 MPa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47103" y="3941064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Mean strain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3941064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1.1076%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47103" y="4379976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Lid warpage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759952" y="4379976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17.590 µm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28816" y="5038344"/>
            <a:ext cx="467258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896A"/>
                </a:solidFill>
                <a:latin typeface="Aptos"/>
              </a:rPr>
              <a:t>Choose when mean TIM stress and strain dominate.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2688" y="5888736"/>
            <a:ext cx="10168128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A21"/>
                </a:solidFill>
                <a:latin typeface="Aptos"/>
              </a:rPr>
              <a:t>Different scenario models: retained-area thermal runs and fully bonded mechanical analyses are not co-simulated.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Scientific boundaries: what we cannot claim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LIMITATIONS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2376" y="1417320"/>
            <a:ext cx="5266944" cy="16824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6968" y="1600200"/>
            <a:ext cx="73152" cy="1316736"/>
          </a:xfrm>
          <a:prstGeom prst="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78992" y="1572768"/>
            <a:ext cx="471830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Thermal boundary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" y="2029968"/>
            <a:ext cx="4672583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Fixed 25 °C cold-plate surface; coolant flow not resolved.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27064" y="1417320"/>
            <a:ext cx="5266944" cy="16824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91655" y="1600200"/>
            <a:ext cx="73152" cy="1316736"/>
          </a:xfrm>
          <a:prstGeom prst="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79" y="1572768"/>
            <a:ext cx="471830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Contact-loss geometry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79" y="2029968"/>
            <a:ext cx="4672583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Illustrative ideal blockage; not measured void shapes or a damage-growth law.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2376" y="3392424"/>
            <a:ext cx="5266944" cy="16824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6968" y="3575304"/>
            <a:ext cx="73152" cy="1316736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78992" y="3547872"/>
            <a:ext cx="471830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Mechanical response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8992" y="4005072"/>
            <a:ext cx="4672583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Assumed linear effective properties and fully bonded one-way thermal handoff.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27064" y="3392424"/>
            <a:ext cx="5266944" cy="16824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91655" y="3575304"/>
            <a:ext cx="73152" cy="1316736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79" y="3547872"/>
            <a:ext cx="471830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Reliability prediction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83679" y="4005072"/>
            <a:ext cx="4672583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No validated fatigue, pump-out, delamination or failure criterion; peak stress unconverged.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8680" y="5833872"/>
            <a:ext cx="10488168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Use the results for relative design screening, not measured product lifetime or manufacturing qualification.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A realistic path to reliability qualification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FUTURE WORK / INDUSTRIAL ADOPTION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Qualification directions motivated by cited TIM reliability and contact-resistance literature.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1289304"/>
            <a:ext cx="10652760" cy="102412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78408" y="1472184"/>
            <a:ext cx="630936" cy="62179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2415" y="1618488"/>
            <a:ext cx="49377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1399031"/>
            <a:ext cx="2359152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Material coupons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1472184"/>
            <a:ext cx="6793992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Measure through-plane k, compressed BLT, anisotropy, temperature dependence.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7240" y="2459736"/>
            <a:ext cx="10652760" cy="102412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78408" y="2642616"/>
            <a:ext cx="630936" cy="62179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2415" y="2788920"/>
            <a:ext cx="49377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19656" y="2569464"/>
            <a:ext cx="2359152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Interface tests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43400" y="2642616"/>
            <a:ext cx="6793992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Measure contact resistance vs. pressure and temperature; retention maps.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7240" y="3630168"/>
            <a:ext cx="10652760" cy="102412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78408" y="3813048"/>
            <a:ext cx="630936" cy="62179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2415" y="3959352"/>
            <a:ext cx="49377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19656" y="3739896"/>
            <a:ext cx="2359152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Coupled packaging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43400" y="3813048"/>
            <a:ext cx="6793992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Introduce contact pressure, deformation, interface gaps and calibrated constitutive laws.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77240" y="4800600"/>
            <a:ext cx="10652760" cy="102412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78408" y="4983480"/>
            <a:ext cx="630936" cy="621792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2415" y="5129784"/>
            <a:ext cx="49377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19656" y="4910328"/>
            <a:ext cx="2359152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Reliability tests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43400" y="4983480"/>
            <a:ext cx="6793992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Thermal cycling, pump-out, adhesion, C-SAM, delamination and fatigue criteria.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6025896"/>
            <a:ext cx="10241280" cy="1554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63A21"/>
                </a:solidFill>
                <a:latin typeface="Aptos"/>
              </a:rPr>
              <a:t>No lifetime extension or industrial product readiness has been established by this simulation alone.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Take-home messages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CONCLUSION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" y="1261872"/>
            <a:ext cx="10808208" cy="12070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77824" y="1472184"/>
            <a:ext cx="704088" cy="69494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1655063"/>
            <a:ext cx="50292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1380743"/>
            <a:ext cx="933602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Do not optimize k in isolation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01368" y="1892807"/>
            <a:ext cx="9262872" cy="4846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BLT, contact retention and hotspot location control the relevant thermal path.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4088" y="2660904"/>
            <a:ext cx="10808208" cy="120700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77824" y="2871216"/>
            <a:ext cx="704088" cy="694944"/>
          </a:xfrm>
          <a:prstGeom prst="round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" y="3054096"/>
            <a:ext cx="50292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73936" y="2779776"/>
            <a:ext cx="933602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Topology matters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01368" y="3291840"/>
            <a:ext cx="9262872" cy="4846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Equal 64.82% retained area produced very different modeled thermal outcomes.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04088" y="4059935"/>
            <a:ext cx="10808208" cy="12070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77824" y="4270248"/>
            <a:ext cx="704088" cy="694944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" y="4453127"/>
            <a:ext cx="50292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3936" y="4178807"/>
            <a:ext cx="933602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The best thermal point is not the lowest-stress point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4690871"/>
            <a:ext cx="9262872" cy="4846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At k = 30, 100 µm cools best; 250 µm minimizes sampled mean stress/strain.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" y="5660136"/>
            <a:ext cx="9985248" cy="5120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963A21"/>
                </a:solidFill>
                <a:latin typeface="Aptos"/>
              </a:rPr>
              <a:t>Deliverable: a traceable two-candidate design window for experimental qualification.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Literature and evidence references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REFERENCES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76656" y="1234440"/>
            <a:ext cx="5385816" cy="859536"/>
          </a:xfrm>
          <a:prstGeom prst="round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344168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Prasher, R. S. (2006). Thermal interface materials: Historical perspective, status and future directions. Proc. IEEE. DOI: 10.1109/JPROC.2006.879796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6656" y="2176272"/>
            <a:ext cx="5385816" cy="859536"/>
          </a:xfrm>
          <a:prstGeom prst="round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2286000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Due, J., &amp; Robinson, A. J. (2013). Reliability of thermal interface materials: A review. Applied Thermal Engineering. DOI: 10.1016/j.applthermaleng.2012.06.013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76656" y="3118104"/>
            <a:ext cx="5385816" cy="859536"/>
          </a:xfrm>
          <a:prstGeom prst="round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3227832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Zhao, J.-W. et al. (2019). Effects of surface roughness, temperature and pressure on interface thermal resistance. IJHMT. DOI: 10.1016/j.ijheatmasstransfer.2019.06.045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76656" y="4059935"/>
            <a:ext cx="5385816" cy="859536"/>
          </a:xfrm>
          <a:prstGeom prst="round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" y="4169663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Li, J. et al. (2023). Compliance-tunable TIMs based on vertically oriented carbon fiber arrays. Composites Science and Technology. DOI: 10.1016/j.compscitech.2023.109948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76656" y="5001768"/>
            <a:ext cx="5385816" cy="859536"/>
          </a:xfrm>
          <a:prstGeom prst="round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5111496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Yi, M. et al. (2025). FCBGA package with vertical-aligned carbon-fiber thermal pad. Microelectronics Reliability. DOI: 10.1016/j.microrel.2025.115607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90488" y="1234440"/>
            <a:ext cx="5385816" cy="859536"/>
          </a:xfrm>
          <a:prstGeom prst="round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36792" y="1344168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Wen, J. et al. (2026). Indium-based self-confining metal foam TIMs for large-die FCBGA. IJTS. DOI: 10.1016/j.ijthermalsci.2025.110432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90488" y="2176272"/>
            <a:ext cx="5385816" cy="859536"/>
          </a:xfrm>
          <a:prstGeom prst="round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36792" y="2286000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Subramanian, V. et al. (2019). Mechanical characterization of TIMs and its challenges. Journal of Electronic Packaging. DOI: 10.1115/1.4042805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90488" y="3118104"/>
            <a:ext cx="5385816" cy="859536"/>
          </a:xfrm>
          <a:prstGeom prst="round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36792" y="3227832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Du, W. et al. (2026). TIM thermal-mechanical reliability and coverage degradation prediction. Microelectronics Reliability. DOI: 10.1016/j.microrel.2026.116180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0488" y="4059935"/>
            <a:ext cx="5385816" cy="859536"/>
          </a:xfrm>
          <a:prstGeom prst="round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36792" y="4169663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Yenigun, O. et al. (2026). Coupled thermal and mechanical analysis of TIMs in electronic packaging. IEEE TCPMT. DOI: 10.1109/TCPMT.2025.3633174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73368" y="5184648"/>
            <a:ext cx="4956048" cy="5303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Project numerical source: EPTC team report and frozen Icepak/MAPDL exports; 23 Oct 2026.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Backup: complete nine-case comparison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APPENDIX / NUMERICAL DATA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12" y="1298448"/>
            <a:ext cx="1572768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1463040"/>
            <a:ext cx="1517904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k [W/mK]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29968" y="1298448"/>
            <a:ext cx="1188720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48256" y="1463040"/>
            <a:ext cx="11338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BLT [µm]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36976" y="1298448"/>
            <a:ext cx="1600200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1463040"/>
            <a:ext cx="154533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Tmax [°C]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73752" y="1298448"/>
            <a:ext cx="2103120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1463040"/>
            <a:ext cx="2048255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Mean VM [MPa]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95160" y="1298448"/>
            <a:ext cx="1965960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13448" y="1463040"/>
            <a:ext cx="1911095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Strain [%]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97696" y="1298448"/>
            <a:ext cx="1124712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15984" y="1463040"/>
            <a:ext cx="1069848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Warp [µm]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168128" y="1298448"/>
            <a:ext cx="1298448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186415" y="1463040"/>
            <a:ext cx="1243584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Case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8056" y="1851660"/>
            <a:ext cx="11000232" cy="393192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8" y="1901951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66544" y="1901951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73552" y="1901951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85.490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0328" y="1901951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0.012094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31736" y="1901951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1.2568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34272" y="1901951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18.611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04703" y="1901951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4" name="TextBox 73"/>
          <p:cNvSpPr txBox="1"/>
          <p:nvPr/>
        </p:nvSpPr>
        <p:spPr>
          <a:xfrm>
            <a:off x="475488" y="2313432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66544" y="2313432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73552" y="2313432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100.323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10328" y="2313432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0.012014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31736" y="2313432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1.2296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34272" y="2313432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20.948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04703" y="2313432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81" name="Rectangle 80"/>
          <p:cNvSpPr/>
          <p:nvPr/>
        </p:nvSpPr>
        <p:spPr>
          <a:xfrm>
            <a:off x="448056" y="2674620"/>
            <a:ext cx="11000232" cy="393192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5488" y="2724911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66544" y="2724911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400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73552" y="2724911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114.389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10328" y="2724911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0.013286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31736" y="2724911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1.3535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34272" y="2724911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23.503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04703" y="2724911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89" name="TextBox 88"/>
          <p:cNvSpPr txBox="1"/>
          <p:nvPr/>
        </p:nvSpPr>
        <p:spPr>
          <a:xfrm>
            <a:off x="475488" y="3136391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66544" y="3136391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73552" y="3136391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82.625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10328" y="3136391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0.011960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31736" y="3136391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1.2400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34272" y="3136391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17.778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04703" y="3136391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96" name="Rectangle 95"/>
          <p:cNvSpPr/>
          <p:nvPr/>
        </p:nvSpPr>
        <p:spPr>
          <a:xfrm>
            <a:off x="448056" y="3497579"/>
            <a:ext cx="11000232" cy="393192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5488" y="3547871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66544" y="3547871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250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73552" y="3547871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93.344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10328" y="3547871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0.011339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1736" y="3547871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1.1594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34272" y="3547871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19.012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204703" y="3547871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04" name="TextBox 103"/>
          <p:cNvSpPr txBox="1"/>
          <p:nvPr/>
        </p:nvSpPr>
        <p:spPr>
          <a:xfrm>
            <a:off x="475488" y="3959352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66544" y="3959352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400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73552" y="3959352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103.544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10328" y="3959352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0.012153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031736" y="3959352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1.2369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34272" y="3959352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20.496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04703" y="3959352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1" name="Rectangle 110"/>
          <p:cNvSpPr/>
          <p:nvPr/>
        </p:nvSpPr>
        <p:spPr>
          <a:xfrm>
            <a:off x="448056" y="4320540"/>
            <a:ext cx="11000232" cy="393192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75488" y="4370832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30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66544" y="4370832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73552" y="4370832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80.455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910328" y="4370832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0.011866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31736" y="4370832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1.2279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34272" y="4370832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17.155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204703" y="4370832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LOWEST 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5488" y="4782312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30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66544" y="4782312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250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273552" y="4782312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88.026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910328" y="4782312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0.010841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031736" y="4782312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1.1076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034272" y="4782312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17.590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204703" y="4782312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LOWEST σ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48056" y="5143500"/>
            <a:ext cx="11000232" cy="393192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75488" y="5193792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066544" y="5193792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400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273552" y="5193792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95.194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10328" y="5193792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0.011306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031736" y="5193792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1.1498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034272" y="5193792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18.293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204703" y="5193792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