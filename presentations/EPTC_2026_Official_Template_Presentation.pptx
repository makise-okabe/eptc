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477" r:id="rId5"/>
    <p:sldId id="478" r:id="rId10"/>
    <p:sldId id="479" r:id="rId11"/>
    <p:sldId id="480" r:id="rId12"/>
    <p:sldId id="481" r:id="rId13"/>
    <p:sldId id="482" r:id="rId14"/>
    <p:sldId id="483" r:id="rId15"/>
    <p:sldId id="484" r:id="rId16"/>
    <p:sldId id="485" r:id="rId17"/>
    <p:sldId id="486" r:id="rId18"/>
    <p:sldId id="487" r:id="rId19"/>
    <p:sldId id="488" r:id="rId20"/>
    <p:sldId id="489" r:id="rId21"/>
    <p:sldId id="490" r:id="rId22"/>
    <p:sldId id="491" r:id="rId23"/>
    <p:sldId id="492" r:id="rId24"/>
    <p:sldId id="493" r:id="rId25"/>
    <p:sldId id="494" r:id="rId26"/>
    <p:sldId id="495" r:id="rId27"/>
    <p:sldId id="496" r:id="rId28"/>
    <p:sldId id="497" r:id="rId29"/>
    <p:sldId id="498" r:id="rId30"/>
    <p:sldId id="499" r:id="rId31"/>
    <p:sldId id="500" r:id="rId32"/>
    <p:sldId id="501" r:id="rId33"/>
    <p:sldId id="502" r:id="rId34"/>
    <p:sldId id="503" r:id="rId35"/>
    <p:sldId id="504" r:id="rId36"/>
    <p:sldId id="505" r:id="rId37"/>
    <p:sldId id="506" r:id="rId38"/>
    <p:sldId id="507" r:id="rId39"/>
    <p:sldId id="508" r:id="rId40"/>
    <p:sldId id="509" r:id="rId41"/>
    <p:sldId id="510" r:id="rId42"/>
    <p:sldId id="511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60"/>
  </p:normalViewPr>
  <p:slideViewPr>
    <p:cSldViewPr snapToGrid="0">
      <p:cViewPr varScale="1">
        <p:scale>
          <a:sx n="85" d="100"/>
          <a:sy n="85" d="100"/>
        </p:scale>
        <p:origin x="28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3767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9020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6881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A8475-4614-4E0C-ADEC-2C2226CF4201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8858B-711D-4736-BC8D-44F65DCDA6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257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jpg"/><Relationship Id="rId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92F5D17-3E73-427F-82FC-6B0B4B6DB30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" y="6511716"/>
            <a:ext cx="12176760" cy="3566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16348CC-4AA3-4726-BA4A-140F8B057FF2}"/>
              </a:ext>
            </a:extLst>
          </p:cNvPr>
          <p:cNvSpPr txBox="1"/>
          <p:nvPr userDrawn="1"/>
        </p:nvSpPr>
        <p:spPr>
          <a:xfrm>
            <a:off x="2600173" y="6524090"/>
            <a:ext cx="69882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b="1" i="1" dirty="0">
                <a:solidFill>
                  <a:prstClr val="white"/>
                </a:solidFill>
                <a:latin typeface="Calibri" panose="020F0502020204030204"/>
                <a:cs typeface="+mn-cs"/>
              </a:rPr>
              <a:t>28</a:t>
            </a:r>
            <a:r>
              <a:rPr lang="en-US" sz="1400" b="1" i="1" baseline="30000" dirty="0">
                <a:solidFill>
                  <a:prstClr val="white"/>
                </a:solidFill>
                <a:latin typeface="Calibri" panose="020F0502020204030204"/>
                <a:cs typeface="+mn-cs"/>
              </a:rPr>
              <a:t>th</a:t>
            </a:r>
            <a:r>
              <a:rPr lang="en-US" sz="1400" b="1" i="1" dirty="0">
                <a:solidFill>
                  <a:prstClr val="white"/>
                </a:solidFill>
                <a:latin typeface="Calibri" panose="020F0502020204030204"/>
                <a:cs typeface="+mn-cs"/>
              </a:rPr>
              <a:t> Electronics Packaging Technology Conference, 1</a:t>
            </a:r>
            <a:r>
              <a:rPr lang="en-US" sz="1400" b="1" i="1" baseline="30000" dirty="0">
                <a:solidFill>
                  <a:prstClr val="white"/>
                </a:solidFill>
                <a:latin typeface="Calibri" panose="020F0502020204030204"/>
                <a:cs typeface="+mn-cs"/>
              </a:rPr>
              <a:t>st</a:t>
            </a:r>
            <a:r>
              <a:rPr lang="en-US" sz="1400" b="1" i="1" dirty="0">
                <a:solidFill>
                  <a:prstClr val="white"/>
                </a:solidFill>
                <a:latin typeface="Calibri" panose="020F0502020204030204"/>
                <a:cs typeface="+mn-cs"/>
              </a:rPr>
              <a:t> – 4</a:t>
            </a:r>
            <a:r>
              <a:rPr lang="en-US" sz="1400" b="1" i="1" baseline="30000" dirty="0">
                <a:solidFill>
                  <a:prstClr val="white"/>
                </a:solidFill>
                <a:latin typeface="Calibri" panose="020F0502020204030204"/>
                <a:cs typeface="+mn-cs"/>
              </a:rPr>
              <a:t>th</a:t>
            </a:r>
            <a:r>
              <a:rPr lang="en-US" sz="1400" b="1" i="1" dirty="0">
                <a:solidFill>
                  <a:prstClr val="white"/>
                </a:solidFill>
                <a:latin typeface="Calibri" panose="020F0502020204030204"/>
                <a:cs typeface="+mn-cs"/>
              </a:rPr>
              <a:t> Dec 2026, Singapore</a:t>
            </a:r>
            <a:endParaRPr lang="en-SG" sz="1400" b="1" i="1" dirty="0">
              <a:solidFill>
                <a:prstClr val="white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530C002-CC9A-4CFC-B37D-3DA36FBD9E18}"/>
              </a:ext>
            </a:extLst>
          </p:cNvPr>
          <p:cNvSpPr txBox="1">
            <a:spLocks/>
          </p:cNvSpPr>
          <p:nvPr userDrawn="1"/>
        </p:nvSpPr>
        <p:spPr>
          <a:xfrm>
            <a:off x="11545756" y="6536465"/>
            <a:ext cx="636914" cy="2830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bg1"/>
                </a:solidFill>
                <a:latin typeface="+mn-lt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C7D9C8F7-B9C9-4A6D-B783-DEA6E6070D58}" type="slidenum">
              <a:rPr lang="en-US" smtClean="0">
                <a:solidFill>
                  <a:prstClr val="white"/>
                </a:solidFill>
                <a:latin typeface="Calibri" panose="020F0502020204030204"/>
                <a:cs typeface="+mn-cs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dirty="0">
              <a:solidFill>
                <a:prstClr val="white"/>
              </a:solidFill>
              <a:latin typeface="Calibri" panose="020F0502020204030204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92A873-0DF6-829B-F1C1-DCC4F06A9CD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" y="6104"/>
            <a:ext cx="12176760" cy="7086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018BC7-40E9-40B7-52E9-17AF556545F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" y="94211"/>
            <a:ext cx="1672297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927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8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8000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8000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8000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8000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008000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008000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008000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0080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har char="–"/>
        <a:defRPr>
          <a:solidFill>
            <a:srgbClr val="0066FF"/>
          </a:solidFill>
          <a:latin typeface="+mn-lt"/>
        </a:defRPr>
      </a:lvl2pPr>
      <a:lvl3pPr marL="1143000" indent="-2286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Font typeface="Wingdings" pitchFamily="2" charset="2"/>
        <a:buChar char="Ø"/>
        <a:defRPr i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Thermomechanical Co-Design of TIM1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FINAL COMPETITION PRESENTATION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1280160"/>
            <a:ext cx="7498079" cy="10972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83A52"/>
                </a:solidFill>
                <a:latin typeface="Aptos"/>
              </a:rPr>
              <a:t>Interface-Aware Thermal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83A52"/>
                </a:solidFill>
                <a:latin typeface="Aptos"/>
              </a:rPr>
              <a:t>Interface Material Optimization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2606040"/>
            <a:ext cx="7269480" cy="5669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5"/>
                </a:solidFill>
                <a:latin typeface="Aptos"/>
              </a:rPr>
              <a:t>A representative 700-W AI accelerator FCBGA package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13232" y="3364992"/>
            <a:ext cx="2715768" cy="338328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2" y="3424428"/>
            <a:ext cx="2532888" cy="23774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THERMAL + MECHANICAL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630168" y="3364992"/>
            <a:ext cx="2487168" cy="338328"/>
          </a:xfrm>
          <a:prstGeom prst="round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721608" y="3424428"/>
            <a:ext cx="2304288" cy="23774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CONTACT GEOMETRY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4178808"/>
            <a:ext cx="7406640" cy="39319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3344"/>
                </a:solidFill>
                <a:latin typeface="Aptos"/>
              </a:rPr>
              <a:t>Fang Tianchi  ·  Ke Tangxin  ·  Du Yanzhang  ·  Duan Yihe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4645152"/>
            <a:ext cx="6629400" cy="31089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57585"/>
                </a:solidFill>
                <a:latin typeface="Aptos"/>
              </a:rPr>
              <a:t>EPTC 2026 Student Innovation Challenge  |  Singapore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531352" y="1280160"/>
            <a:ext cx="2990088" cy="4297680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78240" y="1627632"/>
            <a:ext cx="3239719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3868A"/>
                </a:solidFill>
                <a:latin typeface="Aptos"/>
              </a:rPr>
              <a:t>KEY DESIGN DECISION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78240" y="2048256"/>
            <a:ext cx="2487168" cy="83210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3A52"/>
                </a:solidFill>
                <a:latin typeface="Aptos"/>
              </a:rPr>
              <a:t>100 µm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3A52"/>
                </a:solidFill>
                <a:latin typeface="Aptos"/>
              </a:rPr>
              <a:t>vs 250 µm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78240" y="3218688"/>
            <a:ext cx="2468880" cy="10241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63A21"/>
                </a:solidFill>
                <a:latin typeface="Aptos"/>
              </a:rPr>
              <a:t>The coolest TIM is not always the mechanically least loaded.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8778240" y="4590288"/>
            <a:ext cx="2487168" cy="0"/>
          </a:xfrm>
          <a:prstGeom prst="line">
            <a:avLst/>
          </a:prstGeom>
          <a:ln w="25400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778240" y="4800600"/>
            <a:ext cx="2532888" cy="45720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Matched nine-case DOE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0352" y="6181344"/>
            <a:ext cx="11155680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57585"/>
                </a:solidFill>
                <a:latin typeface="Aptos"/>
              </a:rPr>
              <a:t>Source: team simulation study and the supplied EPTC 2026 competition report.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8956405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Why TIM1 becomes the design bottleneck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RESEARCH PROBLEM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57585"/>
                </a:solidFill>
                <a:latin typeface="Aptos"/>
              </a:rPr>
              <a:t>Published TIM context: Prasher (2006); Due &amp; Robinson (2013); Zhao et al. (2019).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4360" y="1399032"/>
            <a:ext cx="3584448" cy="332841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8952" y="1581912"/>
            <a:ext cx="73152" cy="2962656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0976" y="1554480"/>
            <a:ext cx="3035808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High power density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0976" y="2011680"/>
            <a:ext cx="2990088" cy="2606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03344"/>
                </a:solidFill>
                <a:latin typeface="Aptos"/>
              </a:rPr>
              <a:t>A nonuniform 700-W die load creates severe thermal demands for the die-to-lid interface.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97680" y="1399032"/>
            <a:ext cx="3584448" cy="332841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462272" y="1581912"/>
            <a:ext cx="73152" cy="2962656"/>
          </a:xfrm>
          <a:prstGeom prst="rect">
            <a:avLst/>
          </a:prstGeom>
          <a:solidFill>
            <a:srgbClr val="E2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54296" y="1554480"/>
            <a:ext cx="3035808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Real interfaces are imperfect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54296" y="2011680"/>
            <a:ext cx="2990088" cy="2606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03344"/>
                </a:solidFill>
                <a:latin typeface="Aptos"/>
              </a:rPr>
              <a:t>Bulk k alone misses compressed BLT, contact resistance, partial retention and local gaps.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01000" y="1399032"/>
            <a:ext cx="3584448" cy="332841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165592" y="1581912"/>
            <a:ext cx="73152" cy="2962656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57616" y="1554480"/>
            <a:ext cx="3035808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Reliability is multiphysics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57616" y="2011680"/>
            <a:ext cx="2990088" cy="2606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03344"/>
                </a:solidFill>
                <a:latin typeface="Aptos"/>
              </a:rPr>
              <a:t>Thinner or stiffer interfaces can change stress and strain even when warpage improves.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248" y="5120640"/>
            <a:ext cx="10515600" cy="5029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3A52"/>
                </a:solidFill>
                <a:latin typeface="Aptos"/>
              </a:rPr>
              <a:t>The optimization target is package behavior—not a single nominal material property.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Research questions and objectives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OBJECTIVES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57585"/>
                </a:solidFill>
                <a:latin typeface="Aptos"/>
              </a:rPr>
              <a:t>Literature: Yi et al. (2025); Wen et al. (2026); Prasher (2006). Source details on references slide.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0664" y="1261872"/>
            <a:ext cx="10698480" cy="96012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96112" y="1435607"/>
            <a:ext cx="594360" cy="585216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8408" y="1581912"/>
            <a:ext cx="429768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73352" y="1389888"/>
            <a:ext cx="1847088" cy="3383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THERMAL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0" y="1435607"/>
            <a:ext cx="7498079" cy="5669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03344"/>
                </a:solidFill>
                <a:latin typeface="Aptos"/>
              </a:rPr>
              <a:t>How do TIM family, k and BLT affect the modeled die temperature?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0664" y="2386584"/>
            <a:ext cx="10698480" cy="960120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96112" y="2560320"/>
            <a:ext cx="594360" cy="585216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8408" y="2706624"/>
            <a:ext cx="429768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73352" y="2514600"/>
            <a:ext cx="1847088" cy="3383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INTERFACE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0" y="2560320"/>
            <a:ext cx="7498079" cy="5669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03344"/>
                </a:solidFill>
                <a:latin typeface="Aptos"/>
              </a:rPr>
              <a:t>How much does retained contact geometry matter beyond retained area?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40664" y="3511296"/>
            <a:ext cx="10698480" cy="96012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96112" y="3685032"/>
            <a:ext cx="594360" cy="585216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8408" y="3831335"/>
            <a:ext cx="429768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673352" y="3639312"/>
            <a:ext cx="1847088" cy="3383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MECHANICAL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0" y="3685032"/>
            <a:ext cx="7498079" cy="5669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03344"/>
                </a:solidFill>
                <a:latin typeface="Aptos"/>
              </a:rPr>
              <a:t>Does the best thermal design also reduce TIM stress, strain and lid warpage?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40664" y="4636008"/>
            <a:ext cx="10698480" cy="960120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96112" y="4809744"/>
            <a:ext cx="594360" cy="585216"/>
          </a:xfrm>
          <a:prstGeom prst="round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8408" y="4956048"/>
            <a:ext cx="429768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73352" y="4764024"/>
            <a:ext cx="1847088" cy="3383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DECISION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0" y="4809744"/>
            <a:ext cx="7498079" cy="5669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03344"/>
                </a:solidFill>
                <a:latin typeface="Aptos"/>
              </a:rPr>
              <a:t>Which sampled candidates deserve experimental qualification?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An evidence-led optimization workflow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METHODS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11480" y="1737360"/>
            <a:ext cx="2194560" cy="2633472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106424" y="1956816"/>
            <a:ext cx="804672" cy="713232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89304" y="2112264"/>
            <a:ext cx="448056" cy="3291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6072" y="2834640"/>
            <a:ext cx="1901952" cy="5486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Analytical model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3429000"/>
            <a:ext cx="1938528" cy="7589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Bulk resistance &amp; assumptions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624328" y="2980944"/>
            <a:ext cx="182880" cy="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706624" y="2889503"/>
            <a:ext cx="100584" cy="91441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706624" y="2980944"/>
            <a:ext cx="100584" cy="9144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2798064" y="1737360"/>
            <a:ext cx="2194560" cy="2633472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493008" y="1956816"/>
            <a:ext cx="804672" cy="713232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75887" y="2112264"/>
            <a:ext cx="448056" cy="3291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62656" y="2834640"/>
            <a:ext cx="1901952" cy="5486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Icepak FEA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35224" y="3429000"/>
            <a:ext cx="1938528" cy="7589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Materials, coverage, k–BLT DOE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010912" y="2980944"/>
            <a:ext cx="182880" cy="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093207" y="2889503"/>
            <a:ext cx="100585" cy="91441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5093207" y="2980944"/>
            <a:ext cx="100585" cy="9144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5184648" y="1737360"/>
            <a:ext cx="2194560" cy="2633472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5879592" y="1956816"/>
            <a:ext cx="804672" cy="713232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062472" y="2112264"/>
            <a:ext cx="448056" cy="3291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49240" y="2834640"/>
            <a:ext cx="1901952" cy="5486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Numerical gates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21808" y="3429000"/>
            <a:ext cx="1938528" cy="7589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Baseline replication &amp; mesh checks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7397496" y="2980944"/>
            <a:ext cx="182879" cy="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479792" y="2889503"/>
            <a:ext cx="100583" cy="91441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479792" y="2980944"/>
            <a:ext cx="100583" cy="9144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7571231" y="1737360"/>
            <a:ext cx="2194560" cy="2633472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266175" y="1956816"/>
            <a:ext cx="804672" cy="713232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49055" y="2112264"/>
            <a:ext cx="448056" cy="3291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35823" y="2834640"/>
            <a:ext cx="1901952" cy="5486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MAPDL mechanics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08392" y="3429000"/>
            <a:ext cx="1938528" cy="7589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One-way, fully bonded handoff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9784080" y="2980944"/>
            <a:ext cx="182879" cy="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9866376" y="2889503"/>
            <a:ext cx="100583" cy="91441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9866376" y="2980944"/>
            <a:ext cx="100583" cy="9144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9957815" y="1737360"/>
            <a:ext cx="2194560" cy="2633472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0652759" y="1956816"/>
            <a:ext cx="804672" cy="713232"/>
          </a:xfrm>
          <a:prstGeom prst="round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835639" y="2112264"/>
            <a:ext cx="448056" cy="3291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122407" y="2834640"/>
            <a:ext cx="1901952" cy="5486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Design decision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094976" y="3429000"/>
            <a:ext cx="1938528" cy="7589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Thermal vs. stress/strain/warpage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49808" y="4937760"/>
            <a:ext cx="10835640" cy="521207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963A21"/>
                </a:solidFill>
                <a:latin typeface="Aptos"/>
              </a:rPr>
              <a:t>All curves and design comparisons use solved cases—not an inferred lifetime or fabricated optimum.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Representative FCBGA package model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METHODS / MODEL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" y="6272784"/>
            <a:ext cx="11128248" cy="26517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r>
              <a:rPr sz="840">
                <a:solidFill>
                  <a:srgbClr val="657585"/>
                </a:solidFill>
                <a:latin typeface="Aptos"/>
              </a:rPr>
              <a:t>Copper lid / TIM2 / substrate: Wen et al., Int. J. Therm. Sci. 221 (2026), 110432. DOI: 10.1016/j.ijthermalsci.2025.110432. Die, cooler thickness and 700 W: study-defined.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25880" y="1252728"/>
            <a:ext cx="9601200" cy="612648"/>
          </a:xfrm>
          <a:prstGeom prst="rect">
            <a:avLst/>
          </a:prstGeom>
          <a:solidFill>
            <a:srgbClr val="963A21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463039" y="1335024"/>
            <a:ext cx="4608576" cy="4297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Fixed-temperature cold plate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1353312"/>
            <a:ext cx="4512564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ptos"/>
              </a:rPr>
              <a:t>60 × 60 × 8 mm • top at 25 °C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20240" y="2002536"/>
            <a:ext cx="8412480" cy="612648"/>
          </a:xfrm>
          <a:prstGeom prst="rect">
            <a:avLst/>
          </a:prstGeom>
          <a:solidFill>
            <a:srgbClr val="E5EFF3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2084831"/>
            <a:ext cx="4037990" cy="4297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3A52"/>
                </a:solidFill>
                <a:latin typeface="Aptos"/>
              </a:rPr>
              <a:t>TIM2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26479" y="2103120"/>
            <a:ext cx="3953865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83A52"/>
                </a:solidFill>
                <a:latin typeface="Aptos"/>
              </a:rPr>
              <a:t>0.10 mm • k = 5.4 W/(m·K)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20240" y="2752344"/>
            <a:ext cx="8412480" cy="612648"/>
          </a:xfrm>
          <a:prstGeom prst="rect">
            <a:avLst/>
          </a:prstGeom>
          <a:solidFill>
            <a:srgbClr val="B7CCD8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57400" y="2834639"/>
            <a:ext cx="4037990" cy="4297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3A52"/>
                </a:solidFill>
                <a:latin typeface="Aptos"/>
              </a:rPr>
              <a:t>Copper lid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79" y="2852927"/>
            <a:ext cx="3953865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83A52"/>
                </a:solidFill>
                <a:latin typeface="Aptos"/>
              </a:rPr>
              <a:t>52.4 × 52.4 × 0.70 mm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34640" y="3502152"/>
            <a:ext cx="6583680" cy="612648"/>
          </a:xfrm>
          <a:prstGeom prst="rect">
            <a:avLst/>
          </a:prstGeom>
          <a:solidFill>
            <a:srgbClr val="E29E40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71800" y="3584448"/>
            <a:ext cx="3160166" cy="4297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3A52"/>
                </a:solidFill>
                <a:latin typeface="Aptos"/>
              </a:rPr>
              <a:t>TIM1 — the design variable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6480" y="3602736"/>
            <a:ext cx="3094329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83A52"/>
                </a:solidFill>
                <a:latin typeface="Aptos"/>
              </a:rPr>
              <a:t>k, BLT and contact area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34640" y="4251960"/>
            <a:ext cx="6583680" cy="612648"/>
          </a:xfrm>
          <a:prstGeom prst="rect">
            <a:avLst/>
          </a:prstGeom>
          <a:solidFill>
            <a:srgbClr val="EDC6AE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71800" y="4334256"/>
            <a:ext cx="3160166" cy="4297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3A52"/>
                </a:solidFill>
                <a:latin typeface="Aptos"/>
              </a:rPr>
              <a:t>Silicon die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6480" y="4352544"/>
            <a:ext cx="3094329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83A52"/>
                </a:solidFill>
                <a:latin typeface="Aptos"/>
              </a:rPr>
              <a:t>28.5 × 28.5 × 0.70 mm • 700 W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325880" y="5001768"/>
            <a:ext cx="9601200" cy="612648"/>
          </a:xfrm>
          <a:prstGeom prst="rect">
            <a:avLst/>
          </a:prstGeom>
          <a:solidFill>
            <a:srgbClr val="E5EFF3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463039" y="5084064"/>
            <a:ext cx="4608576" cy="4297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3A52"/>
                </a:solidFill>
                <a:latin typeface="Aptos"/>
              </a:rPr>
              <a:t>Equivalent support / substrate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26480" y="5102352"/>
            <a:ext cx="4512564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83A52"/>
                </a:solidFill>
                <a:latin typeface="Aptos"/>
              </a:rPr>
              <a:t>52.4 × 52.4 × 1.0 mm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0352" y="5897880"/>
            <a:ext cx="11247120" cy="22860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585"/>
                </a:solidFill>
                <a:latin typeface="Aptos"/>
              </a:rPr>
              <a:t>Schematic only • Not a proprietary accelerator geometry • One-way thermal-to-mechanical coupling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Dimensions and literature: what came from where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METHODS / PARAMETER PROVENANCE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57585"/>
                </a:solidFill>
                <a:latin typeface="Aptos"/>
              </a:rPr>
              <a:t>Wen et al., Int. J. Therm. Sci. 221 (2026), 110432. DOI: 10.1016/j.ijthermalsci.2025.110432. Yi et al., Microelectron. Reliab. 166 (2025), 115607. DOI: 10.1016/j.microrel.2025.115607.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4632" y="1335024"/>
            <a:ext cx="2240280" cy="512064"/>
          </a:xfrm>
          <a:prstGeom prst="rect">
            <a:avLst/>
          </a:prstGeom>
          <a:solidFill>
            <a:srgbClr val="18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1472184"/>
            <a:ext cx="2112264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Package element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52928" y="1335024"/>
            <a:ext cx="4453128" cy="512064"/>
          </a:xfrm>
          <a:prstGeom prst="rect">
            <a:avLst/>
          </a:prstGeom>
          <a:solidFill>
            <a:srgbClr val="18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935224" y="1472184"/>
            <a:ext cx="4325112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Modeled input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97496" y="1335024"/>
            <a:ext cx="4215384" cy="512064"/>
          </a:xfrm>
          <a:prstGeom prst="rect">
            <a:avLst/>
          </a:prstGeom>
          <a:solidFill>
            <a:srgbClr val="18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79792" y="1472184"/>
            <a:ext cx="4087368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Source classification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4632" y="1920240"/>
            <a:ext cx="2240280" cy="539496"/>
          </a:xfrm>
          <a:prstGeom prst="rect">
            <a:avLst/>
          </a:prstGeom>
          <a:solidFill>
            <a:srgbClr val="F8FAFB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6928" y="2011680"/>
            <a:ext cx="209397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70" b="1" i="0">
                <a:solidFill>
                  <a:srgbClr val="183A52"/>
                </a:solidFill>
                <a:latin typeface="Aptos"/>
              </a:rPr>
              <a:t>Copper lid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52928" y="1920240"/>
            <a:ext cx="4453128" cy="539496"/>
          </a:xfrm>
          <a:prstGeom prst="rect">
            <a:avLst/>
          </a:prstGeom>
          <a:solidFill>
            <a:srgbClr val="F8FAFB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35224" y="2011680"/>
            <a:ext cx="4306824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203344"/>
                </a:solidFill>
                <a:latin typeface="Aptos"/>
              </a:rPr>
              <a:t>52.4 × 52.4 × 0.70 mm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97496" y="1920240"/>
            <a:ext cx="4215384" cy="539496"/>
          </a:xfrm>
          <a:prstGeom prst="rect">
            <a:avLst/>
          </a:prstGeom>
          <a:solidFill>
            <a:srgbClr val="F8FAFB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79792" y="2011680"/>
            <a:ext cx="4069080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203344"/>
                </a:solidFill>
                <a:latin typeface="Aptos"/>
              </a:rPr>
              <a:t>Wen et al. (2026), cited DOI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4632" y="2487168"/>
            <a:ext cx="2240280" cy="539496"/>
          </a:xfrm>
          <a:prstGeom prst="rect">
            <a:avLst/>
          </a:prstGeom>
          <a:solidFill>
            <a:srgbClr val="FFFFFF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6928" y="2578608"/>
            <a:ext cx="209397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70" b="1" i="0">
                <a:solidFill>
                  <a:srgbClr val="183A52"/>
                </a:solidFill>
                <a:latin typeface="Aptos"/>
              </a:rPr>
              <a:t>TIM2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52928" y="2487168"/>
            <a:ext cx="4453128" cy="539496"/>
          </a:xfrm>
          <a:prstGeom prst="rect">
            <a:avLst/>
          </a:prstGeom>
          <a:solidFill>
            <a:srgbClr val="FFFFFF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35224" y="2578608"/>
            <a:ext cx="4306824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203344"/>
                </a:solidFill>
                <a:latin typeface="Aptos"/>
              </a:rPr>
              <a:t>0.10 mm; 5.4 W/(m·K)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97496" y="2487168"/>
            <a:ext cx="4215384" cy="539496"/>
          </a:xfrm>
          <a:prstGeom prst="rect">
            <a:avLst/>
          </a:prstGeom>
          <a:solidFill>
            <a:srgbClr val="FFFFFF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79792" y="2578608"/>
            <a:ext cx="4069080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203344"/>
                </a:solidFill>
                <a:latin typeface="Aptos"/>
              </a:rPr>
              <a:t>Wen et al. (2026), cited DOI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84632" y="3054096"/>
            <a:ext cx="2240280" cy="539496"/>
          </a:xfrm>
          <a:prstGeom prst="rect">
            <a:avLst/>
          </a:prstGeom>
          <a:solidFill>
            <a:srgbClr val="F8FAFB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66928" y="3145536"/>
            <a:ext cx="209397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70" b="1" i="0">
                <a:solidFill>
                  <a:srgbClr val="183A52"/>
                </a:solidFill>
                <a:latin typeface="Aptos"/>
              </a:rPr>
              <a:t>Equivalent substrate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52928" y="3054096"/>
            <a:ext cx="4453128" cy="539496"/>
          </a:xfrm>
          <a:prstGeom prst="rect">
            <a:avLst/>
          </a:prstGeom>
          <a:solidFill>
            <a:srgbClr val="F8FAFB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35224" y="3145536"/>
            <a:ext cx="4306824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203344"/>
                </a:solidFill>
                <a:latin typeface="Aptos"/>
              </a:rPr>
              <a:t>52.4 × 52.4 × 1.0 mm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97496" y="3054096"/>
            <a:ext cx="4215384" cy="539496"/>
          </a:xfrm>
          <a:prstGeom prst="rect">
            <a:avLst/>
          </a:prstGeom>
          <a:solidFill>
            <a:srgbClr val="F8FAFB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479792" y="3145536"/>
            <a:ext cx="4069080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203344"/>
                </a:solidFill>
                <a:latin typeface="Aptos"/>
              </a:rPr>
              <a:t>Literature-aligned, Wen et al.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84632" y="3621024"/>
            <a:ext cx="2240280" cy="539496"/>
          </a:xfrm>
          <a:prstGeom prst="rect">
            <a:avLst/>
          </a:prstGeom>
          <a:solidFill>
            <a:srgbClr val="FFFFFF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66928" y="3712463"/>
            <a:ext cx="209397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70" b="1" i="0">
                <a:solidFill>
                  <a:srgbClr val="183A52"/>
                </a:solidFill>
                <a:latin typeface="Aptos"/>
              </a:rPr>
              <a:t>Carbon thermal anchor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852928" y="3621024"/>
            <a:ext cx="4453128" cy="539496"/>
          </a:xfrm>
          <a:prstGeom prst="rect">
            <a:avLst/>
          </a:prstGeom>
          <a:solidFill>
            <a:srgbClr val="FFFFFF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935224" y="3712463"/>
            <a:ext cx="4306824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203344"/>
                </a:solidFill>
                <a:latin typeface="Aptos"/>
              </a:rPr>
              <a:t>21 W/(m·K); 88.22 / 64.82% area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397496" y="3621024"/>
            <a:ext cx="4215384" cy="539496"/>
          </a:xfrm>
          <a:prstGeom prst="rect">
            <a:avLst/>
          </a:prstGeom>
          <a:solidFill>
            <a:srgbClr val="FFFFFF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479792" y="3712463"/>
            <a:ext cx="4069080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203344"/>
                </a:solidFill>
                <a:latin typeface="Aptos"/>
              </a:rPr>
              <a:t>Yi et al. (2025), cited DOI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84632" y="4187952"/>
            <a:ext cx="2240280" cy="539496"/>
          </a:xfrm>
          <a:prstGeom prst="rect">
            <a:avLst/>
          </a:prstGeom>
          <a:solidFill>
            <a:srgbClr val="F8FAFB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66928" y="4279392"/>
            <a:ext cx="209397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70" b="1" i="0">
                <a:solidFill>
                  <a:srgbClr val="183A52"/>
                </a:solidFill>
                <a:latin typeface="Aptos"/>
              </a:rPr>
              <a:t>Die + imposed power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852928" y="4187952"/>
            <a:ext cx="4453128" cy="539496"/>
          </a:xfrm>
          <a:prstGeom prst="rect">
            <a:avLst/>
          </a:prstGeom>
          <a:solidFill>
            <a:srgbClr val="F8FAFB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935224" y="4279392"/>
            <a:ext cx="4306824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203344"/>
                </a:solidFill>
                <a:latin typeface="Aptos"/>
              </a:rPr>
              <a:t>28.5 mm die; 700 W, 4 × 4 map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97496" y="4187952"/>
            <a:ext cx="4215384" cy="539496"/>
          </a:xfrm>
          <a:prstGeom prst="rect">
            <a:avLst/>
          </a:prstGeom>
          <a:solidFill>
            <a:srgbClr val="F8FAFB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79792" y="4279392"/>
            <a:ext cx="4069080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203344"/>
                </a:solidFill>
                <a:latin typeface="Aptos"/>
              </a:rPr>
              <a:t>Study-defined—not measured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84632" y="4754880"/>
            <a:ext cx="2240280" cy="539496"/>
          </a:xfrm>
          <a:prstGeom prst="rect">
            <a:avLst/>
          </a:prstGeom>
          <a:solidFill>
            <a:srgbClr val="FFFFFF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66928" y="4846320"/>
            <a:ext cx="209397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70" b="1" i="0">
                <a:solidFill>
                  <a:srgbClr val="183A52"/>
                </a:solidFill>
                <a:latin typeface="Aptos"/>
              </a:rPr>
              <a:t>Cold plate / boundary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852928" y="4754880"/>
            <a:ext cx="4453128" cy="539496"/>
          </a:xfrm>
          <a:prstGeom prst="rect">
            <a:avLst/>
          </a:prstGeom>
          <a:solidFill>
            <a:srgbClr val="FFFFFF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935224" y="4846320"/>
            <a:ext cx="4306824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203344"/>
                </a:solidFill>
                <a:latin typeface="Aptos"/>
              </a:rPr>
              <a:t>60 × 60 × 8 mm; fixed 25 °C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397496" y="4754880"/>
            <a:ext cx="4215384" cy="539496"/>
          </a:xfrm>
          <a:prstGeom prst="rect">
            <a:avLst/>
          </a:prstGeom>
          <a:solidFill>
            <a:srgbClr val="FFFFFF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479792" y="4846320"/>
            <a:ext cx="4069080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203344"/>
                </a:solidFill>
                <a:latin typeface="Aptos"/>
              </a:rPr>
              <a:t>Footprint literature-aligned; rest assumed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84632" y="5321808"/>
            <a:ext cx="2240280" cy="539496"/>
          </a:xfrm>
          <a:prstGeom prst="rect">
            <a:avLst/>
          </a:prstGeom>
          <a:solidFill>
            <a:srgbClr val="F8FAFB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66928" y="5413248"/>
            <a:ext cx="209397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70" b="1" i="0">
                <a:solidFill>
                  <a:srgbClr val="183A52"/>
                </a:solidFill>
                <a:latin typeface="Aptos"/>
              </a:rPr>
              <a:t>Design variables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852928" y="5321808"/>
            <a:ext cx="4453128" cy="539496"/>
          </a:xfrm>
          <a:prstGeom prst="rect">
            <a:avLst/>
          </a:prstGeom>
          <a:solidFill>
            <a:srgbClr val="F8FAFB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935224" y="5413248"/>
            <a:ext cx="4306824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203344"/>
                </a:solidFill>
                <a:latin typeface="Aptos"/>
              </a:rPr>
              <a:t>k = 15/21/30; BLT = 100/250/400 µm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97496" y="5321808"/>
            <a:ext cx="4215384" cy="539496"/>
          </a:xfrm>
          <a:prstGeom prst="rect">
            <a:avLst/>
          </a:prstGeom>
          <a:solidFill>
            <a:srgbClr val="F8FAFB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479792" y="5413248"/>
            <a:ext cx="4069080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203344"/>
                </a:solidFill>
                <a:latin typeface="Aptos"/>
              </a:rPr>
              <a:t>Simulation DOE, not a vendor specification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58368" y="6117336"/>
            <a:ext cx="11064240" cy="17373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57585"/>
                </a:solidFill>
                <a:latin typeface="Aptos"/>
              </a:rPr>
              <a:t>DOIs: Wen 10.1016/j.ijthermalsci.2025.110432; Yi 10.1016/j.microrel.2025.115607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Model assumptions: documented, not disguised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METHODS / TRACEABILITY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" y="6272784"/>
            <a:ext cx="11128248" cy="26517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r>
              <a:rPr sz="840">
                <a:solidFill>
                  <a:srgbClr val="657585"/>
                </a:solidFill>
                <a:latin typeface="Aptos"/>
              </a:rPr>
              <a:t>TIM conductivity / coverage: Yi et al., Microelectron. Reliab. 166 (2025), 115607. DOI: 10.1016/j.microrel.2025.115607. Geometry anchors: Wen et al., Int. J. Therm. Sci. 221 (2026), 110432. DOI: 10.1016/j.ijthermalsci.2025.110432.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8952" y="1207008"/>
            <a:ext cx="10652760" cy="100584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32688" y="1371600"/>
            <a:ext cx="91440" cy="667512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07008" y="1325880"/>
            <a:ext cx="2926080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Literature-anchored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60520" y="1362456"/>
            <a:ext cx="6894576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03344"/>
                </a:solidFill>
                <a:latin typeface="Aptos"/>
              </a:rPr>
              <a:t>21 W/(m·K) carbon pad; 88.22% and 64.82% contact fractions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8952" y="2377440"/>
            <a:ext cx="10652760" cy="1005840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32688" y="2542032"/>
            <a:ext cx="91440" cy="667512"/>
          </a:xfrm>
          <a:prstGeom prst="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07008" y="2496312"/>
            <a:ext cx="2926080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Literature-aligned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60520" y="2532888"/>
            <a:ext cx="6894576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03344"/>
                </a:solidFill>
                <a:latin typeface="Aptos"/>
              </a:rPr>
              <a:t>52.4 mm substrate and lid; 0.1 mm TIM2; 60 mm cooler footprint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8952" y="3547872"/>
            <a:ext cx="10652760" cy="100584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32688" y="3712463"/>
            <a:ext cx="91440" cy="667512"/>
          </a:xfrm>
          <a:prstGeom prst="rect">
            <a:avLst/>
          </a:prstGeom>
          <a:solidFill>
            <a:srgbClr val="E2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207008" y="3666744"/>
            <a:ext cx="2926080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Study-defined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60520" y="3703320"/>
            <a:ext cx="6894576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03344"/>
                </a:solidFill>
                <a:latin typeface="Aptos"/>
              </a:rPr>
              <a:t>700-W, 4×4 hotspot map; 28.5 mm die; 25 °C fixed boundary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58952" y="4718304"/>
            <a:ext cx="10652760" cy="1005840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32688" y="4882896"/>
            <a:ext cx="91440" cy="66751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07008" y="4837176"/>
            <a:ext cx="2926080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Sensitivity variables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60520" y="4873752"/>
            <a:ext cx="6894576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03344"/>
                </a:solidFill>
                <a:latin typeface="Aptos"/>
              </a:rPr>
              <a:t>k = 15/21/30; BLT = 100/250/400 µm; carbon effective modulus/CTE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" y="5989320"/>
            <a:ext cx="104698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63A21"/>
                </a:solidFill>
                <a:latin typeface="Aptos"/>
              </a:rPr>
              <a:t>Neither the 700 W heat map nor k = 30 W/(m·K) at 100 µm has been measured on a product.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Thermal resistance: more than bulk conductivity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PHYSICAL MODEL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" y="6272784"/>
            <a:ext cx="11128248" cy="26517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r>
              <a:rPr sz="840">
                <a:solidFill>
                  <a:srgbClr val="657585"/>
                </a:solidFill>
                <a:latin typeface="Aptos"/>
              </a:rPr>
              <a:t>Thermal contact formulation: Prasher (2006), DOI: 10.1109/JPROC.2006.879796; Zhao et al., Int. J. Heat Mass Transfer 140 (2019), 705-716. DOI: 10.1016/j.ijheatmasstransfer.2019.06.045.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0936" y="1325880"/>
            <a:ext cx="5257800" cy="2898648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9536" y="1572768"/>
            <a:ext cx="4800600" cy="4206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Intrinsic bulk contribution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" y="2286000"/>
            <a:ext cx="4370832" cy="6583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3868A"/>
                </a:solidFill>
                <a:latin typeface="Aptos"/>
              </a:rPr>
              <a:t>R_bulk ≈ BLT / (k⊥ × A)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" y="3383280"/>
            <a:ext cx="4663440" cy="5486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03344"/>
                </a:solidFill>
                <a:latin typeface="Aptos"/>
              </a:rPr>
              <a:t>Reducing BLT or increasing k lowers the ideal layer resistance.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071616" y="1325880"/>
            <a:ext cx="5440680" cy="2898648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0216" y="1572768"/>
            <a:ext cx="4919472" cy="4297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Installed interface contribution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81928" y="2267712"/>
            <a:ext cx="5020056" cy="7132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63A21"/>
                </a:solidFill>
                <a:latin typeface="Aptos"/>
              </a:rPr>
              <a:t>R ≈ R_c,die + BLT/(k⊥ A_eff) + R_c,lid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45936" y="3383280"/>
            <a:ext cx="4681728" cy="5486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Real contact adds pressure-, surface- and temperature-dependent effects.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316736" y="4617720"/>
            <a:ext cx="9601200" cy="914400"/>
          </a:xfrm>
          <a:prstGeom prst="roundRect">
            <a:avLst/>
          </a:prstGeom>
          <a:solidFill>
            <a:srgbClr val="E5EFF3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618488" y="4864608"/>
            <a:ext cx="9025128" cy="34747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83A52"/>
                </a:solidFill>
                <a:latin typeface="Aptos"/>
              </a:rPr>
              <a:t>Reported metric:  R_eff = (peak die temperature − 25 °C) / 700 W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Why begin with a 45-W analytical model?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RESEARCH METHOD / FOUNDATION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57585"/>
                </a:solidFill>
                <a:latin typeface="Aptos"/>
              </a:rPr>
              <a:t>Source: team's 45-W X23 verification and mesh logs; the 0.200 °C/W reference was study-selected.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1170432"/>
            <a:ext cx="10899648" cy="4846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83A52"/>
                </a:solidFill>
                <a:latin typeface="Aptos"/>
              </a:rPr>
              <a:t>First establish a controlled heat path before simulating a 700-W accelerator.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6928" y="1892807"/>
            <a:ext cx="3621024" cy="2880360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49808" y="2084831"/>
            <a:ext cx="91440" cy="566928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1832" y="2130552"/>
            <a:ext cx="2990088" cy="39319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Analytical expectation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688" y="2779776"/>
            <a:ext cx="2944368" cy="5943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3868A"/>
                </a:solidFill>
                <a:latin typeface="Aptos"/>
              </a:rPr>
              <a:t>Rbulk = 0.115385 °C/W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1832" y="3566160"/>
            <a:ext cx="2907792" cy="9601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45 W through the reference X23 TIM gives ~5.192 °C bulk drop.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434840" y="1892807"/>
            <a:ext cx="3621024" cy="2880360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617720" y="2084831"/>
            <a:ext cx="91440" cy="566928"/>
          </a:xfrm>
          <a:prstGeom prst="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09744" y="2130552"/>
            <a:ext cx="2990088" cy="39319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Numerical convergence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00600" y="2779776"/>
            <a:ext cx="2944368" cy="5943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A896A"/>
                </a:solidFill>
                <a:latin typeface="Aptos"/>
              </a:rPr>
              <a:t>0.000387%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09744" y="3566160"/>
            <a:ext cx="2907792" cy="9601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Medium-to-fine change in die peak temperature; mesh refinement alone was stable.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302752" y="1892807"/>
            <a:ext cx="3621024" cy="2880360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485632" y="2084831"/>
            <a:ext cx="91440" cy="566928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77656" y="2130552"/>
            <a:ext cx="2990088" cy="39319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Calibration limitation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68512" y="2779776"/>
            <a:ext cx="2944368" cy="5943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963A21"/>
                </a:solidFill>
                <a:latin typeface="Aptos"/>
              </a:rPr>
              <a:t>27.72%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77656" y="3566160"/>
            <a:ext cx="2907792" cy="9601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FEA reference resistance 0.144568 °C/W versus selected 0.200 °C/W comparison target.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49808" y="5047488"/>
            <a:ext cx="10661904" cy="786384"/>
          </a:xfrm>
          <a:prstGeom prst="roundRect">
            <a:avLst/>
          </a:prstGeom>
          <a:solidFill>
            <a:srgbClr val="E5EFF3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8408" y="5248656"/>
            <a:ext cx="10186416" cy="43891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Why it mattered: detect model/interface assumptions before comparing materials under 700 W.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3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What the initial verification did—and did not—establish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RESEARCH METHOD / INTERFACE VALIDITY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57585"/>
                </a:solidFill>
                <a:latin typeface="Aptos"/>
              </a:rPr>
              <a:t>Source: team's separate 45-W analytical, mesh and calibration diagnostic; not a physical contact measurement.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76072" y="1362456"/>
            <a:ext cx="5532120" cy="3447288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9536" y="1664208"/>
            <a:ext cx="4910328" cy="37490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3A52"/>
                </a:solidFill>
                <a:latin typeface="Aptos"/>
              </a:rPr>
              <a:t>Model observation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7824" y="2423160"/>
            <a:ext cx="77724" cy="77724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1560" y="2304288"/>
            <a:ext cx="4754879" cy="69494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Analytical layer resistance and FEA package resistance are different quantities.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77824" y="3145536"/>
            <a:ext cx="77724" cy="77724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1560" y="3026664"/>
            <a:ext cx="4754879" cy="69494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The mesh check was stable; agreement with an external target was not established.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77824" y="3867911"/>
            <a:ext cx="77724" cy="77724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51560" y="3749039"/>
            <a:ext cx="4754879" cy="69494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The mismatch motivated separating bulk and interface contributions.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91072" y="1362456"/>
            <a:ext cx="5303520" cy="3447288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47104" y="1664208"/>
            <a:ext cx="4754880" cy="37490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3A52"/>
                </a:solidFill>
                <a:latin typeface="Aptos"/>
              </a:rPr>
              <a:t>Scope of the subsequent study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592824" y="2414015"/>
            <a:ext cx="77724" cy="77724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66560" y="2295144"/>
            <a:ext cx="4434840" cy="69494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An 8.65 °C·mm²/W effective fitting term was explored in a separate diagnostic.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92824" y="3136391"/>
            <a:ext cx="77724" cy="77724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66560" y="3017520"/>
            <a:ext cx="4434840" cy="69494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It was NOT transferred to the 700-W material and DOE simulations.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592824" y="3858768"/>
            <a:ext cx="77724" cy="77724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66560" y="3739896"/>
            <a:ext cx="4434840" cy="69494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Consequently, the main comparisons use ideal thermal interfaces.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13232" y="5074920"/>
            <a:ext cx="10835640" cy="713232"/>
          </a:xfrm>
          <a:prstGeom prst="roundRect">
            <a:avLst/>
          </a:prstGeom>
          <a:solidFill>
            <a:srgbClr val="E5EFF3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9264" y="5266944"/>
            <a:ext cx="10250424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963A21"/>
                </a:solidFill>
                <a:latin typeface="Aptos"/>
              </a:rPr>
              <a:t>Interpret the subsequent temperatures as model-specific comparative results, not qualified junction temperatures.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Constructed 4 × 4 die power map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METHODS / THERMAL LOAD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05840" y="1353312"/>
            <a:ext cx="859536" cy="877824"/>
          </a:xfrm>
          <a:prstGeom prst="rect">
            <a:avLst/>
          </a:prstGeom>
          <a:solidFill>
            <a:srgbClr val="E6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1560" y="1636776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7 W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38528" y="1353312"/>
            <a:ext cx="859536" cy="877824"/>
          </a:xfrm>
          <a:prstGeom prst="rect">
            <a:avLst/>
          </a:prstGeom>
          <a:solidFill>
            <a:srgbClr val="F2C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984248" y="1636776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42 W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71216" y="1353312"/>
            <a:ext cx="859536" cy="877824"/>
          </a:xfrm>
          <a:prstGeom prst="rect">
            <a:avLst/>
          </a:prstGeom>
          <a:solidFill>
            <a:srgbClr val="F2C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16936" y="1636776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42 W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03904" y="1353312"/>
            <a:ext cx="859536" cy="877824"/>
          </a:xfrm>
          <a:prstGeom prst="rect">
            <a:avLst/>
          </a:prstGeom>
          <a:solidFill>
            <a:srgbClr val="E6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49624" y="1636776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7 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05840" y="2304288"/>
            <a:ext cx="859536" cy="877824"/>
          </a:xfrm>
          <a:prstGeom prst="rect">
            <a:avLst/>
          </a:prstGeom>
          <a:solidFill>
            <a:srgbClr val="F2C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1560" y="2587752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42 W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38528" y="2304288"/>
            <a:ext cx="859536" cy="877824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984248" y="2587752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84 W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71216" y="2304288"/>
            <a:ext cx="859536" cy="877824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16936" y="2587752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84 W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03904" y="2304288"/>
            <a:ext cx="859536" cy="877824"/>
          </a:xfrm>
          <a:prstGeom prst="rect">
            <a:avLst/>
          </a:prstGeom>
          <a:solidFill>
            <a:srgbClr val="F2C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849624" y="2587752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42 W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05840" y="3255264"/>
            <a:ext cx="859536" cy="877824"/>
          </a:xfrm>
          <a:prstGeom prst="rect">
            <a:avLst/>
          </a:prstGeom>
          <a:solidFill>
            <a:srgbClr val="F2C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51560" y="3538728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42 W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38528" y="3255264"/>
            <a:ext cx="859536" cy="877824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984248" y="3538728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84 W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71216" y="3255264"/>
            <a:ext cx="859536" cy="877824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16936" y="3538728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84 W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03904" y="3255264"/>
            <a:ext cx="859536" cy="877824"/>
          </a:xfrm>
          <a:prstGeom prst="rect">
            <a:avLst/>
          </a:prstGeom>
          <a:solidFill>
            <a:srgbClr val="F2C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849624" y="3538728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42 W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05840" y="4206240"/>
            <a:ext cx="859536" cy="877824"/>
          </a:xfrm>
          <a:prstGeom prst="rect">
            <a:avLst/>
          </a:prstGeom>
          <a:solidFill>
            <a:srgbClr val="E6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51560" y="4489703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7 W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38528" y="4206240"/>
            <a:ext cx="859536" cy="877824"/>
          </a:xfrm>
          <a:prstGeom prst="rect">
            <a:avLst/>
          </a:prstGeom>
          <a:solidFill>
            <a:srgbClr val="F2C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984248" y="4489703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42 W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71216" y="4206240"/>
            <a:ext cx="859536" cy="877824"/>
          </a:xfrm>
          <a:prstGeom prst="rect">
            <a:avLst/>
          </a:prstGeom>
          <a:solidFill>
            <a:srgbClr val="F2C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16936" y="4489703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42 W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803904" y="4206240"/>
            <a:ext cx="859536" cy="877824"/>
          </a:xfrm>
          <a:prstGeom prst="rect">
            <a:avLst/>
          </a:prstGeom>
          <a:solidFill>
            <a:srgbClr val="E6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849624" y="4489703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7 W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486400" y="1453896"/>
            <a:ext cx="5431536" cy="3474720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769864" y="1755648"/>
            <a:ext cx="4818888" cy="5486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3868A"/>
                </a:solidFill>
                <a:latin typeface="Aptos"/>
              </a:rPr>
              <a:t>700 W total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788152" y="2715768"/>
            <a:ext cx="77724" cy="77724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961888" y="2596896"/>
            <a:ext cx="4379975" cy="5943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03344"/>
                </a:solidFill>
                <a:latin typeface="Aptos"/>
              </a:rPr>
              <a:t>4 central tiles × 84 W = 336 W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788152" y="3337560"/>
            <a:ext cx="77724" cy="77724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961888" y="3218688"/>
            <a:ext cx="4379975" cy="5943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03344"/>
                </a:solidFill>
                <a:latin typeface="Aptos"/>
              </a:rPr>
              <a:t>8 adjacent tiles × 42 W = 336 W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788152" y="3959352"/>
            <a:ext cx="77724" cy="77724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961888" y="3840480"/>
            <a:ext cx="4379975" cy="5943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03344"/>
                </a:solidFill>
                <a:latin typeface="Aptos"/>
              </a:rPr>
              <a:t>4 corner tiles × 7 W = 28 W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97280" y="5367528"/>
            <a:ext cx="9875520" cy="5577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83A52"/>
                </a:solidFill>
                <a:latin typeface="Aptos"/>
              </a:rPr>
              <a:t>A fixed, nonuniform load reveals why contact loss beneath hotspots can be critical.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Numerical credibility and verification gates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METHODS / VALIDATION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" y="1417320"/>
            <a:ext cx="3547872" cy="198424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1618488"/>
            <a:ext cx="3273552" cy="521207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3868A"/>
                </a:solidFill>
                <a:latin typeface="Aptos"/>
              </a:rPr>
              <a:t>0.256%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2249424"/>
            <a:ext cx="3273552" cy="5577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3344"/>
                </a:solidFill>
                <a:latin typeface="Aptos"/>
              </a:rPr>
              <a:t>Grease medium-to-fine ΔTmax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43400" y="1417320"/>
            <a:ext cx="3547872" cy="198424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80560" y="1618488"/>
            <a:ext cx="3273552" cy="521207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2A896A"/>
                </a:solidFill>
                <a:latin typeface="Aptos"/>
              </a:rPr>
              <a:t>&lt;0.004 °C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80560" y="2249424"/>
            <a:ext cx="3273552" cy="5577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3344"/>
                </a:solidFill>
                <a:latin typeface="Aptos"/>
              </a:rPr>
              <a:t>Independent carbon reproduction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28431" y="1417320"/>
            <a:ext cx="3547872" cy="198424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65592" y="1618488"/>
            <a:ext cx="3273552" cy="521207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3868A"/>
                </a:solidFill>
                <a:latin typeface="Aptos"/>
              </a:rPr>
              <a:t>0.000031 °C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65592" y="2249424"/>
            <a:ext cx="3273552" cy="5577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3344"/>
                </a:solidFill>
                <a:latin typeface="Aptos"/>
              </a:rPr>
              <a:t>DOE control-point difference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13232" y="3730752"/>
            <a:ext cx="10780776" cy="1591056"/>
          </a:xfrm>
          <a:prstGeom prst="roundRect">
            <a:avLst/>
          </a:prstGeom>
          <a:solidFill>
            <a:srgbClr val="E5EFF3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87552" y="3959352"/>
            <a:ext cx="10268712" cy="40233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83A52"/>
                </a:solidFill>
                <a:latin typeface="Aptos"/>
              </a:rPr>
              <a:t>What these checks do — and do not — prove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" y="4498848"/>
            <a:ext cx="10186416" cy="5943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r>
              <a:rPr sz="1800">
                <a:solidFill>
                  <a:srgbClr val="203344"/>
                </a:solidFill>
                <a:latin typeface="Aptos"/>
              </a:rPr>
              <a:t>These are numerical consistency checks—not experimental calibration. The later 700-W study assumes ideal thermal contact.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Baseline comparison: grease, carbon and indium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RESULTS / MATERIAL SCREEN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57585"/>
                </a:solidFill>
                <a:latin typeface="Aptos"/>
              </a:rPr>
              <a:t>Project 700-W simulation. Materials have different k and BLT—this is a screen, not an isolated k effect.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" y="1335024"/>
            <a:ext cx="7571231" cy="41148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1975104"/>
            <a:ext cx="2523744" cy="7101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3344"/>
                </a:solidFill>
                <a:latin typeface="Aptos"/>
              </a:rPr>
              <a:t>Grease  •  5 / 90 µm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502152" y="1993392"/>
            <a:ext cx="3657600" cy="320040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502152" y="1993392"/>
            <a:ext cx="3348467" cy="320040"/>
          </a:xfrm>
          <a:prstGeom prst="round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23771" y="2002536"/>
            <a:ext cx="6400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102.534°C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" y="2886456"/>
            <a:ext cx="2523744" cy="7101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03344"/>
                </a:solidFill>
                <a:latin typeface="Aptos"/>
              </a:rPr>
              <a:t>Carbon  •  21 / 250 µm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502152" y="2904744"/>
            <a:ext cx="3657600" cy="320040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502152" y="2904744"/>
            <a:ext cx="3048348" cy="320040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23652" y="2913888"/>
            <a:ext cx="6400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93.344°C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" y="3797808"/>
            <a:ext cx="2523744" cy="7101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03344"/>
                </a:solidFill>
                <a:latin typeface="Aptos"/>
              </a:rPr>
              <a:t>Indium  •  86 / 400 µm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502152" y="3816095"/>
            <a:ext cx="3657600" cy="320040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502152" y="3816095"/>
            <a:ext cx="2674064" cy="320040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49368" y="3825240"/>
            <a:ext cx="6400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81.883°C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348472" y="1335024"/>
            <a:ext cx="3163824" cy="4114800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22792" y="1655064"/>
            <a:ext cx="2679192" cy="5486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3868A"/>
                </a:solidFill>
                <a:latin typeface="Aptos"/>
              </a:rPr>
              <a:t>−9.19 °C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22792" y="2267712"/>
            <a:ext cx="2587752" cy="6126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03344"/>
                </a:solidFill>
                <a:latin typeface="Aptos"/>
              </a:rPr>
              <a:t>Carbon vs. grease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8595360" y="2990088"/>
            <a:ext cx="2633472" cy="0"/>
          </a:xfrm>
          <a:prstGeom prst="line">
            <a:avLst/>
          </a:prstGeom>
          <a:ln w="1270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622792" y="3300984"/>
            <a:ext cx="2679192" cy="5486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A896A"/>
                </a:solidFill>
                <a:latin typeface="Aptos"/>
              </a:rPr>
              <a:t>−20.65 °C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22792" y="3913632"/>
            <a:ext cx="2596896" cy="5486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03344"/>
                </a:solidFill>
                <a:latin typeface="Aptos"/>
              </a:rPr>
              <a:t>Indium vs. grease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03920" y="4892040"/>
            <a:ext cx="283464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63A21"/>
                </a:solidFill>
                <a:latin typeface="Aptos"/>
              </a:rPr>
              <a:t>Nominal ideal contact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Why a thermal material screen was not enough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RESEARCH PROGRESSION / INITIAL MECHANICS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57585"/>
                </a:solidFill>
                <a:latin typeface="Aptos"/>
              </a:rPr>
              <a:t>Team's MAPDL grease/indium results; indium constitutive sensitivity is a study assumption, not fatigue prediction.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1188720"/>
            <a:ext cx="10863072" cy="4297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83A52"/>
                </a:solidFill>
                <a:latin typeface="Aptos"/>
              </a:rPr>
              <a:t>Thermal benefit did not establish the mechanically preferable TIM.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" y="1856231"/>
            <a:ext cx="3575304" cy="3090672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536" y="2112264"/>
            <a:ext cx="301752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3868A"/>
                </a:solidFill>
                <a:latin typeface="Aptos"/>
              </a:rPr>
              <a:t>COMPLIANT GREASE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" y="2615184"/>
            <a:ext cx="3044952" cy="5669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3868A"/>
                </a:solidFill>
                <a:latin typeface="Aptos"/>
              </a:rPr>
              <a:t>0.00105 MPa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" y="3246120"/>
            <a:ext cx="3081528" cy="8229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03344"/>
                </a:solidFill>
                <a:latin typeface="Aptos"/>
              </a:rPr>
              <a:t>Mean modeled TIM stress; assumed E = 0.05 MPa. Warpage ≈ 15.51 µm.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34256" y="1856231"/>
            <a:ext cx="3575304" cy="3090672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0" y="2112264"/>
            <a:ext cx="301752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963A21"/>
                </a:solidFill>
                <a:latin typeface="Aptos"/>
              </a:rPr>
              <a:t>ELASTIC INDIUM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2615184"/>
            <a:ext cx="3017520" cy="5669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963A21"/>
                </a:solidFill>
                <a:latin typeface="Aptos"/>
              </a:rPr>
              <a:t>50.90 MPa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3246120"/>
            <a:ext cx="3072384" cy="8229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03344"/>
                </a:solidFill>
                <a:latin typeface="Aptos"/>
              </a:rPr>
              <a:t>Elastic mean stress is not credible as a realistic post-yield service prediction.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055864" y="1856231"/>
            <a:ext cx="3493008" cy="3090672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84464" y="2112264"/>
            <a:ext cx="306324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896A"/>
                </a:solidFill>
                <a:latin typeface="Aptos"/>
              </a:rPr>
              <a:t>PLASTICITY SENSITIVITY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84464" y="2615184"/>
            <a:ext cx="3054096" cy="5669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A896A"/>
                </a:solidFill>
                <a:latin typeface="Aptos"/>
              </a:rPr>
              <a:t>0.51% / 0.49%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84464" y="3246120"/>
            <a:ext cx="3054096" cy="99669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03344"/>
                </a:solidFill>
                <a:latin typeface="Aptos"/>
              </a:rPr>
              <a:t>Mean plastic strain at assumed 1.00 / 2.14 MPa yields; no lifecycle prediction.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8408" y="5266944"/>
            <a:ext cx="10277856" cy="4754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Reason for the next step: use carbon design variables and a consistent mechanical model.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Contact retention affects hotspot temperature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RESULTS / INTERFACE RETENTION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" y="6272784"/>
            <a:ext cx="11128248" cy="26517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r>
              <a:rPr sz="840">
                <a:solidFill>
                  <a:srgbClr val="657585"/>
                </a:solidFill>
                <a:latin typeface="Aptos"/>
              </a:rPr>
              <a:t>Published retained-area fractions only: Yi et al., Microelectron. Reliab. 166 (2025), 115607. DOI: 10.1016/j.microrel.2025.115607. Thermal temperatures: team's simulations.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" y="1353312"/>
            <a:ext cx="7406640" cy="405993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1106424" y="4032504"/>
            <a:ext cx="6373368" cy="0"/>
          </a:xfrm>
          <a:prstGeom prst="line">
            <a:avLst/>
          </a:prstGeom>
          <a:ln w="11430">
            <a:solidFill>
              <a:srgbClr val="6575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1464868" y="3209099"/>
            <a:ext cx="1186891" cy="823404"/>
          </a:xfrm>
          <a:prstGeom prst="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1560" y="4142232"/>
            <a:ext cx="2121408" cy="3291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03344"/>
                </a:solidFill>
                <a:latin typeface="Aptos"/>
              </a:rPr>
              <a:t>100%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55140" y="2907347"/>
            <a:ext cx="1406347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3A52"/>
                </a:solidFill>
                <a:latin typeface="Aptos"/>
              </a:rPr>
              <a:t>93.3°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22852" y="3195229"/>
            <a:ext cx="1186891" cy="837274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9544" y="4142232"/>
            <a:ext cx="2121408" cy="3291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03344"/>
                </a:solidFill>
                <a:latin typeface="Aptos"/>
              </a:rPr>
              <a:t>88.22%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13124" y="2893477"/>
            <a:ext cx="1406347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3A52"/>
                </a:solidFill>
                <a:latin typeface="Aptos"/>
              </a:rPr>
              <a:t>93.7°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80836" y="2472325"/>
            <a:ext cx="1186891" cy="1560178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67527" y="4142232"/>
            <a:ext cx="2121408" cy="3291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03344"/>
                </a:solidFill>
                <a:latin typeface="Aptos"/>
              </a:rPr>
              <a:t>64.82%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71108" y="2170573"/>
            <a:ext cx="1406347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3A52"/>
                </a:solidFill>
                <a:latin typeface="Aptos"/>
              </a:rPr>
              <a:t>109.8°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229600" y="1353312"/>
            <a:ext cx="3236976" cy="4059936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22208" y="1700784"/>
            <a:ext cx="2688336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Important distinction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531352" y="2404872"/>
            <a:ext cx="77724" cy="77724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05088" y="2286000"/>
            <a:ext cx="2386584" cy="7955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Yi et al.: measured coverage ratios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531352" y="3227832"/>
            <a:ext cx="77724" cy="77724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05088" y="3108960"/>
            <a:ext cx="2386584" cy="7955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Here: assumed missing-contact shapes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531352" y="4050791"/>
            <a:ext cx="77724" cy="77724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05088" y="3931920"/>
            <a:ext cx="2386584" cy="7955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Not a measured failure progression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5840" y="5696712"/>
            <a:ext cx="10222992" cy="39319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The 88.22% retained-area case changes little; a more severe 64.82% ring loss changes much more.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Equal coverage does not imply equal heat removal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RESULTS / CONTACT TOPOLOGY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57585"/>
                </a:solidFill>
                <a:latin typeface="Aptos"/>
              </a:rPr>
              <a:t>Project topology scenarios at 64.82% area; severe conductive blockage, not physical aging predictions.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3504" y="1307592"/>
            <a:ext cx="3685032" cy="4160520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426464" y="1709928"/>
            <a:ext cx="2029968" cy="2029968"/>
          </a:xfrm>
          <a:prstGeom prst="rect">
            <a:avLst/>
          </a:prstGeom>
          <a:solidFill>
            <a:srgbClr val="E7DCD8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624275" y="1907739"/>
            <a:ext cx="1634344" cy="1634344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4672" y="3941063"/>
            <a:ext cx="3300984" cy="37490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Peripheral ring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" y="4553712"/>
            <a:ext cx="3328416" cy="4754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A896A"/>
                </a:solidFill>
                <a:latin typeface="Aptos"/>
              </a:rPr>
              <a:t>109.8 °C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471416" y="1307592"/>
            <a:ext cx="3685032" cy="4160520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294376" y="1709928"/>
            <a:ext cx="2029968" cy="2029968"/>
          </a:xfrm>
          <a:prstGeom prst="rect">
            <a:avLst/>
          </a:prstGeom>
          <a:solidFill>
            <a:srgbClr val="E7DCD8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94376" y="1709928"/>
            <a:ext cx="1315825" cy="2029968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72584" y="3941063"/>
            <a:ext cx="3300984" cy="37490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One edge band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45152" y="4553712"/>
            <a:ext cx="3328416" cy="4754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963A21"/>
                </a:solidFill>
                <a:latin typeface="Aptos"/>
              </a:rPr>
              <a:t>417.8 °C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339328" y="1307592"/>
            <a:ext cx="3685032" cy="4160520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162288" y="1709928"/>
            <a:ext cx="2029968" cy="2029968"/>
          </a:xfrm>
          <a:prstGeom prst="rect">
            <a:avLst/>
          </a:prstGeom>
          <a:solidFill>
            <a:srgbClr val="E7DCD8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162288" y="1709928"/>
            <a:ext cx="2029968" cy="2029968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575257" y="2122897"/>
            <a:ext cx="1204029" cy="1204029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40496" y="3941063"/>
            <a:ext cx="3300984" cy="37490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Central void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13064" y="4553712"/>
            <a:ext cx="3328416" cy="4754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963A21"/>
                </a:solidFill>
                <a:latin typeface="Aptos"/>
              </a:rPr>
              <a:t>400.5 °C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9808" y="5760720"/>
            <a:ext cx="10863072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57585"/>
                </a:solidFill>
                <a:latin typeface="Aptos"/>
              </a:rPr>
              <a:t>All three scenarios assume 64.82% retained TIM1 area; topology sketches are illustrative.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4632" y="6163056"/>
            <a:ext cx="11192256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12064" y="6190488"/>
            <a:ext cx="11119104" cy="21031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57585"/>
                </a:solidFill>
                <a:latin typeface="Aptos"/>
              </a:rPr>
              <a:t>Coverage fractions: Yi et al., Microelectron. Reliab. 166 (2025), 115607. DOI: 10.1016/j.microrel.2025.115607. Spatial loss maps and all temperatures: study-defined simulations.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The full 3 × 3 conductivity–thickness thermal DOE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RESULTS / NINE SOLVED CASES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" y="6272784"/>
            <a:ext cx="11128248" cy="26517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r>
              <a:rPr sz="840">
                <a:solidFill>
                  <a:srgbClr val="657585"/>
                </a:solidFill>
                <a:latin typeface="Aptos"/>
              </a:rPr>
              <a:t>Team's nine Icepak simulations; parameter plausibility: Li et al., Compos. Sci. Technol. 234 (2023), 109948. DOI: 10.1016/j.compscitech.2023.109948.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19656" y="1362456"/>
            <a:ext cx="2642616" cy="3017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100 µm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62272" y="1362456"/>
            <a:ext cx="2642616" cy="3017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250 µm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04888" y="1362456"/>
            <a:ext cx="2642616" cy="3017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400 µm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2112264"/>
            <a:ext cx="886968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k = 15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843430" y="1880006"/>
            <a:ext cx="2587752" cy="1114044"/>
          </a:xfrm>
          <a:prstGeom prst="roundRect">
            <a:avLst/>
          </a:prstGeom>
          <a:solidFill>
            <a:srgbClr val="DCE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57146" y="2185111"/>
            <a:ext cx="2560320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3A52"/>
                </a:solidFill>
                <a:latin typeface="Aptos"/>
              </a:rPr>
              <a:t>85.490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486046" y="1880006"/>
            <a:ext cx="2587752" cy="1114044"/>
          </a:xfrm>
          <a:prstGeom prst="roundRect">
            <a:avLst/>
          </a:prstGeom>
          <a:solidFill>
            <a:srgbClr val="DAB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99762" y="2185111"/>
            <a:ext cx="2560320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3A52"/>
                </a:solidFill>
                <a:latin typeface="Aptos"/>
              </a:rPr>
              <a:t>100.323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128662" y="1880006"/>
            <a:ext cx="2587752" cy="1114044"/>
          </a:xfrm>
          <a:prstGeom prst="roundRect">
            <a:avLst/>
          </a:prstGeom>
          <a:solidFill>
            <a:srgbClr val="D8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42378" y="2185111"/>
            <a:ext cx="2560320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3A52"/>
                </a:solidFill>
                <a:latin typeface="Aptos"/>
              </a:rPr>
              <a:t>114.389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" y="3285744"/>
            <a:ext cx="886968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k = 21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843430" y="3053486"/>
            <a:ext cx="2587752" cy="1114044"/>
          </a:xfrm>
          <a:prstGeom prst="roundRect">
            <a:avLst/>
          </a:prstGeom>
          <a:solidFill>
            <a:srgbClr val="DCEA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857146" y="3358591"/>
            <a:ext cx="2560320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3A52"/>
                </a:solidFill>
                <a:latin typeface="Aptos"/>
              </a:rPr>
              <a:t>82.625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486046" y="3053486"/>
            <a:ext cx="2587752" cy="1114044"/>
          </a:xfrm>
          <a:prstGeom prst="roundRect">
            <a:avLst/>
          </a:prstGeom>
          <a:solidFill>
            <a:srgbClr val="DBC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99762" y="3358591"/>
            <a:ext cx="2560320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3A52"/>
                </a:solidFill>
                <a:latin typeface="Aptos"/>
              </a:rPr>
              <a:t>93.344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128662" y="3053486"/>
            <a:ext cx="2587752" cy="1114044"/>
          </a:xfrm>
          <a:prstGeom prst="roundRect">
            <a:avLst/>
          </a:prstGeom>
          <a:solidFill>
            <a:srgbClr val="D9A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42378" y="3358591"/>
            <a:ext cx="2560320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3A52"/>
                </a:solidFill>
                <a:latin typeface="Aptos"/>
              </a:rPr>
              <a:t>103.544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" y="4459224"/>
            <a:ext cx="886968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k = 30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843430" y="4226966"/>
            <a:ext cx="2587752" cy="1114044"/>
          </a:xfrm>
          <a:prstGeom prst="roundRect">
            <a:avLst/>
          </a:prstGeom>
          <a:solidFill>
            <a:srgbClr val="DD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857146" y="4532071"/>
            <a:ext cx="2560320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3A52"/>
                </a:solidFill>
                <a:latin typeface="Aptos"/>
              </a:rPr>
              <a:t>80.455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486046" y="4226966"/>
            <a:ext cx="2587752" cy="1114044"/>
          </a:xfrm>
          <a:prstGeom prst="roundRect">
            <a:avLst/>
          </a:prstGeom>
          <a:solidFill>
            <a:srgbClr val="DB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99762" y="4532071"/>
            <a:ext cx="2560320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3A52"/>
                </a:solidFill>
                <a:latin typeface="Aptos"/>
              </a:rPr>
              <a:t>88.026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128662" y="4226966"/>
            <a:ext cx="2587752" cy="1114044"/>
          </a:xfrm>
          <a:prstGeom prst="roundRect">
            <a:avLst/>
          </a:prstGeom>
          <a:solidFill>
            <a:srgbClr val="DA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42378" y="4532071"/>
            <a:ext cx="2560320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3A52"/>
                </a:solidFill>
                <a:latin typeface="Aptos"/>
              </a:rPr>
              <a:t>95.194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601200" y="1527048"/>
            <a:ext cx="2011680" cy="3584448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811512" y="1792224"/>
            <a:ext cx="2206447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3868A"/>
                </a:solidFill>
                <a:latin typeface="Aptos"/>
              </a:rPr>
              <a:t>THERMAL BEST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820656" y="2276856"/>
            <a:ext cx="1682496" cy="5577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A896A"/>
                </a:solidFill>
                <a:latin typeface="Aptos"/>
              </a:rPr>
              <a:t>80.455 °C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820656" y="2990088"/>
            <a:ext cx="1645920" cy="5029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k = 30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100 µm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820656" y="4123944"/>
            <a:ext cx="1627632" cy="7315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585"/>
                </a:solidFill>
                <a:latin typeface="Aptos"/>
              </a:rPr>
              <a:t>Lowest among nine sampled points only.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5840" y="5797296"/>
            <a:ext cx="10351008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57585"/>
                </a:solidFill>
                <a:latin typeface="Aptos"/>
              </a:rPr>
              <a:t>Warmer colors indicate higher modeled peak die temperature; none of the grid values is experimental.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The thermal trend: thin BLT and higher k both help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RESULTS / PARAMETER SENSITIVITY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04088" y="1271016"/>
            <a:ext cx="7461504" cy="4279392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1499616" y="4389119"/>
            <a:ext cx="6172200" cy="0"/>
          </a:xfrm>
          <a:prstGeom prst="line">
            <a:avLst/>
          </a:prstGeom>
          <a:ln w="889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23544" y="4288535"/>
            <a:ext cx="521207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57585"/>
                </a:solidFill>
                <a:latin typeface="Aptos"/>
              </a:rPr>
              <a:t>75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499616" y="3755897"/>
            <a:ext cx="6172200" cy="0"/>
          </a:xfrm>
          <a:prstGeom prst="line">
            <a:avLst/>
          </a:prstGeom>
          <a:ln w="889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923544" y="3655313"/>
            <a:ext cx="521207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57585"/>
                </a:solidFill>
                <a:latin typeface="Aptos"/>
              </a:rPr>
              <a:t>86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499616" y="3122675"/>
            <a:ext cx="6172200" cy="0"/>
          </a:xfrm>
          <a:prstGeom prst="line">
            <a:avLst/>
          </a:prstGeom>
          <a:ln w="889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23544" y="3022091"/>
            <a:ext cx="521207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57585"/>
                </a:solidFill>
                <a:latin typeface="Aptos"/>
              </a:rPr>
              <a:t>98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499616" y="2489453"/>
            <a:ext cx="6172200" cy="0"/>
          </a:xfrm>
          <a:prstGeom prst="line">
            <a:avLst/>
          </a:prstGeom>
          <a:ln w="889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23544" y="2388869"/>
            <a:ext cx="521207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57585"/>
                </a:solidFill>
                <a:latin typeface="Aptos"/>
              </a:rPr>
              <a:t>109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499616" y="1856231"/>
            <a:ext cx="6172200" cy="0"/>
          </a:xfrm>
          <a:prstGeom prst="line">
            <a:avLst/>
          </a:prstGeom>
          <a:ln w="889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23544" y="1755647"/>
            <a:ext cx="521207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57585"/>
                </a:solidFill>
                <a:latin typeface="Aptos"/>
              </a:rPr>
              <a:t>120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79576" y="4498847"/>
            <a:ext cx="685800" cy="22860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344"/>
                </a:solidFill>
                <a:latin typeface="Aptos"/>
              </a:rPr>
              <a:t>100 µm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5676" y="4498847"/>
            <a:ext cx="685800" cy="22860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344"/>
                </a:solidFill>
                <a:latin typeface="Aptos"/>
              </a:rPr>
              <a:t>250 µm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51776" y="4498847"/>
            <a:ext cx="685800" cy="22860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344"/>
                </a:solidFill>
                <a:latin typeface="Aptos"/>
              </a:rPr>
              <a:t>400 µm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458468" y="3757527"/>
            <a:ext cx="82296" cy="82296"/>
          </a:xfrm>
          <a:prstGeom prst="round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544568" y="2922631"/>
            <a:ext cx="82296" cy="82296"/>
          </a:xfrm>
          <a:prstGeom prst="round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630668" y="2130906"/>
            <a:ext cx="82296" cy="82296"/>
          </a:xfrm>
          <a:prstGeom prst="round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 flipV="1">
            <a:off x="1499616" y="2963779"/>
            <a:ext cx="3086100" cy="834896"/>
          </a:xfrm>
          <a:prstGeom prst="line">
            <a:avLst/>
          </a:prstGeom>
          <a:ln w="27940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585716" y="2172054"/>
            <a:ext cx="3086100" cy="791725"/>
          </a:xfrm>
          <a:prstGeom prst="line">
            <a:avLst/>
          </a:prstGeom>
          <a:ln w="27940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1572768" y="4773168"/>
            <a:ext cx="146304" cy="91440"/>
          </a:xfrm>
          <a:prstGeom prst="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792224" y="4700016"/>
            <a:ext cx="1920240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3344"/>
                </a:solidFill>
                <a:latin typeface="Aptos"/>
              </a:rPr>
              <a:t>k = 15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458468" y="3918788"/>
            <a:ext cx="82296" cy="82296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544568" y="3315454"/>
            <a:ext cx="82296" cy="82296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630668" y="2741332"/>
            <a:ext cx="82296" cy="82296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1499616" y="3356602"/>
            <a:ext cx="3086100" cy="603334"/>
          </a:xfrm>
          <a:prstGeom prst="line">
            <a:avLst/>
          </a:prstGeom>
          <a:ln w="27940">
            <a:solidFill>
              <a:srgbClr val="138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585716" y="2782480"/>
            <a:ext cx="3086100" cy="574122"/>
          </a:xfrm>
          <a:prstGeom prst="line">
            <a:avLst/>
          </a:prstGeom>
          <a:ln w="27940">
            <a:solidFill>
              <a:srgbClr val="138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3630168" y="4773168"/>
            <a:ext cx="146304" cy="91440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849624" y="4700016"/>
            <a:ext cx="1920240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3344"/>
                </a:solidFill>
                <a:latin typeface="Aptos"/>
              </a:rPr>
              <a:t>k = 21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458468" y="4040929"/>
            <a:ext cx="82296" cy="82296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4544568" y="3614785"/>
            <a:ext cx="82296" cy="82296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7630668" y="3211324"/>
            <a:ext cx="82296" cy="82296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1499616" y="3655933"/>
            <a:ext cx="3086100" cy="426144"/>
          </a:xfrm>
          <a:prstGeom prst="line">
            <a:avLst/>
          </a:prstGeom>
          <a:ln w="27940">
            <a:solidFill>
              <a:srgbClr val="2A8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585716" y="3252472"/>
            <a:ext cx="3086100" cy="403461"/>
          </a:xfrm>
          <a:prstGeom prst="line">
            <a:avLst/>
          </a:prstGeom>
          <a:ln w="27940">
            <a:solidFill>
              <a:srgbClr val="2A8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5687568" y="4773168"/>
            <a:ext cx="146304" cy="91440"/>
          </a:xfrm>
          <a:prstGeom prst="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07024" y="4700016"/>
            <a:ext cx="1920240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3344"/>
                </a:solidFill>
                <a:latin typeface="Aptos"/>
              </a:rPr>
              <a:t>k = 30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348472" y="1271016"/>
            <a:ext cx="3081528" cy="4279392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586216" y="1572768"/>
            <a:ext cx="2660904" cy="40233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Isolated contrasts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595360" y="2231136"/>
            <a:ext cx="2624328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3868A"/>
                </a:solidFill>
                <a:latin typeface="Aptos"/>
              </a:rPr>
              <a:t>−10.719 °C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595360" y="2697480"/>
            <a:ext cx="2660904" cy="5943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250 → 100 µm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at k = 21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8586216" y="3502152"/>
            <a:ext cx="2542032" cy="0"/>
          </a:xfrm>
          <a:prstGeom prst="line">
            <a:avLst/>
          </a:prstGeom>
          <a:ln w="1524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8595360" y="3749039"/>
            <a:ext cx="2624328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A896A"/>
                </a:solidFill>
                <a:latin typeface="Aptos"/>
              </a:rPr>
              <a:t>−5.318 °C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595360" y="4233672"/>
            <a:ext cx="2660904" cy="6126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k: 21 → 30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at 250 µm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14400" y="5843016"/>
            <a:ext cx="10460736" cy="26517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585"/>
                </a:solidFill>
                <a:latin typeface="Aptos"/>
              </a:rPr>
              <a:t>Trend is bounded to k = 15–30 W/(m·K) and BLT = 100–400 µm; not a continuous global optimum.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Does the shortlist persist at 88.22% retention?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RESULTS / CONTACT ROBUSTNESS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" y="6272784"/>
            <a:ext cx="11128248" cy="26517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r>
              <a:rPr sz="840">
                <a:solidFill>
                  <a:srgbClr val="657585"/>
                </a:solidFill>
                <a:latin typeface="Aptos"/>
              </a:rPr>
              <a:t>Team's recovered four-case Icepak results; retained area motivated by Yi et al., Microelectron. Reliab. 166 (2025), 115607. DOI: 10.1016/j.microrel.2025.115607.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" y="1362456"/>
            <a:ext cx="7955279" cy="417880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1133856" y="4114800"/>
            <a:ext cx="6922008" cy="0"/>
          </a:xfrm>
          <a:prstGeom prst="line">
            <a:avLst/>
          </a:prstGeom>
          <a:ln w="11430">
            <a:solidFill>
              <a:srgbClr val="6575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1411833" y="2429339"/>
            <a:ext cx="965606" cy="1685460"/>
          </a:xfrm>
          <a:prstGeom prst="rect">
            <a:avLst/>
          </a:prstGeom>
          <a:solidFill>
            <a:srgbClr val="65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78992" y="4224528"/>
            <a:ext cx="1719072" cy="3291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03344"/>
                </a:solidFill>
                <a:latin typeface="Aptos"/>
              </a:rPr>
              <a:t>21 / 250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03344"/>
                </a:solidFill>
                <a:latin typeface="Aptos"/>
              </a:rPr>
              <a:t>full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02105" y="2127587"/>
            <a:ext cx="1185062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3A52"/>
                </a:solidFill>
                <a:latin typeface="Aptos"/>
              </a:rPr>
              <a:t>93.3°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67481" y="2407029"/>
            <a:ext cx="965606" cy="1707770"/>
          </a:xfrm>
          <a:prstGeom prst="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834640" y="4224528"/>
            <a:ext cx="1719072" cy="3291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03344"/>
                </a:solidFill>
                <a:latin typeface="Aptos"/>
              </a:rPr>
              <a:t>21 / 250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03344"/>
                </a:solidFill>
                <a:latin typeface="Aptos"/>
              </a:rPr>
              <a:t>88.22%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057753" y="2105277"/>
            <a:ext cx="1185062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3A52"/>
                </a:solidFill>
                <a:latin typeface="Aptos"/>
              </a:rPr>
              <a:t>93.7°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23129" y="2793882"/>
            <a:ext cx="965606" cy="1320917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90288" y="4224528"/>
            <a:ext cx="1719072" cy="3291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03344"/>
                </a:solidFill>
                <a:latin typeface="Aptos"/>
              </a:rPr>
              <a:t>30 / 250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03344"/>
                </a:solidFill>
                <a:latin typeface="Aptos"/>
              </a:rPr>
              <a:t>88.22%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13401" y="2492130"/>
            <a:ext cx="1185062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3A52"/>
                </a:solidFill>
                <a:latin typeface="Aptos"/>
              </a:rPr>
              <a:t>88.3°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78777" y="3345859"/>
            <a:ext cx="965606" cy="768940"/>
          </a:xfrm>
          <a:prstGeom prst="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45936" y="4224528"/>
            <a:ext cx="1719072" cy="3291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03344"/>
                </a:solidFill>
                <a:latin typeface="Aptos"/>
              </a:rPr>
              <a:t>30 / 100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03344"/>
                </a:solidFill>
                <a:latin typeface="Aptos"/>
              </a:rPr>
              <a:t>88.22%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69049" y="3044107"/>
            <a:ext cx="1185062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3A52"/>
                </a:solidFill>
                <a:latin typeface="Aptos"/>
              </a:rPr>
              <a:t>80.7°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759952" y="1362456"/>
            <a:ext cx="2670048" cy="4178808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43416" y="1673352"/>
            <a:ext cx="2167128" cy="5029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A896A"/>
                </a:solidFill>
                <a:latin typeface="Aptos"/>
              </a:rPr>
              <a:t>80.650 °C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34272" y="2276856"/>
            <a:ext cx="2139696" cy="10241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03344"/>
                </a:solidFill>
                <a:latin typeface="Aptos"/>
              </a:rPr>
              <a:t>Thin/high-k remains thermally strongest of the four tested cases.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034272" y="3703320"/>
            <a:ext cx="2093976" cy="0"/>
          </a:xfrm>
          <a:prstGeom prst="line">
            <a:avLst/>
          </a:prstGeom>
          <a:ln w="1524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9034272" y="3886200"/>
            <a:ext cx="2130552" cy="1280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63A21"/>
                </a:solidFill>
                <a:latin typeface="Aptos"/>
              </a:rPr>
              <a:t>Fixed idealized retained footprint—not a physical peel/delamination model.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" y="5806440"/>
            <a:ext cx="10332720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585"/>
                </a:solidFill>
                <a:latin typeface="Aptos"/>
              </a:rPr>
              <a:t>The four-case result includes recovery of an initially interrupted solver run without parameter changes.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3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Thermal fields transferred into a common structural model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METHODS / MECHANICAL MODEL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5488" y="1773936"/>
            <a:ext cx="2697480" cy="2514600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67512" y="2039112"/>
            <a:ext cx="2313432" cy="128016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2" y="2432304"/>
            <a:ext cx="2304288" cy="5029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Icepak fields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" y="3145536"/>
            <a:ext cx="2340864" cy="6766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9 independent solved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k–BLT conditions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191256" y="2990088"/>
            <a:ext cx="219456" cy="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310128" y="2898648"/>
            <a:ext cx="100584" cy="9144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310128" y="2990088"/>
            <a:ext cx="100584" cy="9144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3419856" y="1773936"/>
            <a:ext cx="2697480" cy="2514600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11880" y="2039112"/>
            <a:ext cx="2313432" cy="128016"/>
          </a:xfrm>
          <a:prstGeom prst="rect">
            <a:avLst/>
          </a:prstGeom>
          <a:solidFill>
            <a:srgbClr val="E2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11880" y="2432304"/>
            <a:ext cx="2304288" cy="5029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Reduced handoff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93592" y="3145536"/>
            <a:ext cx="2340864" cy="6766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Die-class and layer-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average temperatures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135624" y="2990088"/>
            <a:ext cx="219456" cy="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254496" y="2898648"/>
            <a:ext cx="100584" cy="9144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54496" y="2990088"/>
            <a:ext cx="100584" cy="9144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6364224" y="1773936"/>
            <a:ext cx="2697480" cy="2514600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556248" y="2039112"/>
            <a:ext cx="2313432" cy="128016"/>
          </a:xfrm>
          <a:prstGeom prst="rect">
            <a:avLst/>
          </a:prstGeom>
          <a:solidFill>
            <a:srgbClr val="18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56248" y="2432304"/>
            <a:ext cx="2304288" cy="5029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MAPDL quarter model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37960" y="3145536"/>
            <a:ext cx="2340864" cy="6766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SOLID186, fully bonded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one-way response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079992" y="2990088"/>
            <a:ext cx="219456" cy="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198864" y="2898648"/>
            <a:ext cx="100584" cy="9144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198864" y="2990088"/>
            <a:ext cx="100584" cy="9144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9308592" y="1773936"/>
            <a:ext cx="2697480" cy="2514600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500616" y="2039112"/>
            <a:ext cx="2313432" cy="128016"/>
          </a:xfrm>
          <a:prstGeom prst="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500616" y="2432304"/>
            <a:ext cx="2304288" cy="5029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Compare outputs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482328" y="3145536"/>
            <a:ext cx="2340864" cy="6766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TIM stress &amp; strain;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lid-top warpage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24128" y="4837176"/>
            <a:ext cx="10168128" cy="758952"/>
          </a:xfrm>
          <a:prstGeom prst="roundRect">
            <a:avLst/>
          </a:prstGeom>
          <a:solidFill>
            <a:srgbClr val="E5EFF3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353312" y="5020056"/>
            <a:ext cx="9518904" cy="4206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Reference carbon mechanics held fixed: E = 1.0 MPa; ν = 0.49; CTE = 180 ppm/K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3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Mechanical-property sensitivity: warpage is not enough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RESULTS / EFFECTIVE PROPERTIES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0936" y="1362456"/>
            <a:ext cx="6995160" cy="4133087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0976" y="1600200"/>
            <a:ext cx="6400800" cy="3383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Warpage for two different thermal designs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7824" y="2185416"/>
            <a:ext cx="1828800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Lower modulus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15768" y="2185416"/>
            <a:ext cx="2745028" cy="173736"/>
          </a:xfrm>
          <a:prstGeom prst="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9944" y="2157984"/>
            <a:ext cx="804672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3A52"/>
                </a:solidFill>
                <a:latin typeface="Aptos"/>
              </a:rPr>
              <a:t>17.38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15768" y="2459736"/>
            <a:ext cx="2560552" cy="173736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9944" y="2432304"/>
            <a:ext cx="804672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3A52"/>
                </a:solidFill>
                <a:latin typeface="Aptos"/>
              </a:rPr>
              <a:t>16.21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7824" y="3099816"/>
            <a:ext cx="1828800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Reference modulus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15768" y="3099816"/>
            <a:ext cx="3002789" cy="173736"/>
          </a:xfrm>
          <a:prstGeom prst="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9944" y="3072384"/>
            <a:ext cx="804672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3A52"/>
                </a:solidFill>
                <a:latin typeface="Aptos"/>
              </a:rPr>
              <a:t>19.01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15768" y="3374136"/>
            <a:ext cx="2709491" cy="173736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9944" y="3346704"/>
            <a:ext cx="804672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3A52"/>
                </a:solidFill>
                <a:latin typeface="Aptos"/>
              </a:rPr>
              <a:t>17.16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7824" y="4014216"/>
            <a:ext cx="1828800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Higher modulus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15768" y="4014216"/>
            <a:ext cx="3138935" cy="173736"/>
          </a:xfrm>
          <a:prstGeom prst="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9944" y="3986784"/>
            <a:ext cx="804672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3A52"/>
                </a:solidFill>
                <a:latin typeface="Aptos"/>
              </a:rPr>
              <a:t>19.87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15768" y="4288536"/>
            <a:ext cx="2777722" cy="173736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9944" y="4261104"/>
            <a:ext cx="804672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3A52"/>
                </a:solidFill>
                <a:latin typeface="Aptos"/>
              </a:rPr>
              <a:t>17.59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14984" y="5010912"/>
            <a:ext cx="182880" cy="109728"/>
          </a:xfrm>
          <a:prstGeom prst="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252728" y="4919472"/>
            <a:ext cx="2359152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03344"/>
                </a:solidFill>
                <a:latin typeface="Aptos"/>
              </a:rPr>
              <a:t>k = 21, 250 µm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49624" y="5010912"/>
            <a:ext cx="182880" cy="109728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96512" y="4919472"/>
            <a:ext cx="2596896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03344"/>
                </a:solidFill>
                <a:latin typeface="Aptos"/>
              </a:rPr>
              <a:t>k = 30, 100 µm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827264" y="1362456"/>
            <a:ext cx="3611880" cy="4133087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92440" y="1700784"/>
            <a:ext cx="3090672" cy="5303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963A21"/>
                </a:solidFill>
                <a:latin typeface="Aptos"/>
              </a:rPr>
              <a:t>+27.25% stress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92440" y="2313432"/>
            <a:ext cx="2962656" cy="4480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Higher-modulus pair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92440" y="2971800"/>
            <a:ext cx="3090672" cy="5303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963A21"/>
                </a:solidFill>
                <a:latin typeface="Aptos"/>
              </a:rPr>
              <a:t>+27.32% strain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092440" y="3593592"/>
            <a:ext cx="2907792" cy="6400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03344"/>
                </a:solidFill>
                <a:latin typeface="Aptos"/>
              </a:rPr>
              <a:t>Warpage improved while average stress and strain worsened.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Mesh refinement: trust the averages, not peak stress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VALIDATION / LIMITS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5800" y="1335024"/>
            <a:ext cx="10835640" cy="433425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6696" y="2011680"/>
            <a:ext cx="1993391" cy="58750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3344"/>
                </a:solidFill>
                <a:latin typeface="Aptos"/>
              </a:rPr>
              <a:t>Mean stress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099815" y="2029968"/>
            <a:ext cx="7296912" cy="320040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099815" y="2029968"/>
            <a:ext cx="78275" cy="320040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51243" y="2039112"/>
            <a:ext cx="6400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0.59%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6696" y="2800350"/>
            <a:ext cx="1993391" cy="58750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Mean strain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099815" y="2818638"/>
            <a:ext cx="7296912" cy="320040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099815" y="2818638"/>
            <a:ext cx="260035" cy="320040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33003" y="2827782"/>
            <a:ext cx="6400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1.96%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6696" y="3589020"/>
            <a:ext cx="1993391" cy="58750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Lid warpage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099815" y="3607308"/>
            <a:ext cx="7296912" cy="320040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099815" y="3607308"/>
            <a:ext cx="27432" cy="320040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399" y="3616452"/>
            <a:ext cx="6400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0.04%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6696" y="4377690"/>
            <a:ext cx="1993391" cy="58750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Local peak stress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099815" y="4395978"/>
            <a:ext cx="7296912" cy="320040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3099815" y="4395978"/>
            <a:ext cx="6660090" cy="320040"/>
          </a:xfrm>
          <a:prstGeom prst="round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833058" y="4405122"/>
            <a:ext cx="6400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50.20%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61288" y="5138928"/>
            <a:ext cx="9912096" cy="31089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963A21"/>
                </a:solidFill>
                <a:latin typeface="Aptos"/>
              </a:rPr>
              <a:t>Absolute intermediate-to-fine changes; peak stress lacks mesh convergence.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0120" y="5797296"/>
            <a:ext cx="10268712" cy="26517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585"/>
                </a:solidFill>
                <a:latin typeface="Aptos"/>
              </a:rPr>
              <a:t>The report does not use pointwise peak stress as a quantitative failure or fatigue criterion.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A fairer mechanical comparison: nine matched cases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METHODS / DESIGN OF EXPERIMENTS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55064" y="1371600"/>
            <a:ext cx="2575560" cy="3017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100 µm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30624" y="1371600"/>
            <a:ext cx="2575560" cy="3017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250 µm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06184" y="1371600"/>
            <a:ext cx="2575560" cy="3017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400 µm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2121408"/>
            <a:ext cx="886968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k = 15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678838" y="1889150"/>
            <a:ext cx="2520695" cy="1159764"/>
          </a:xfrm>
          <a:prstGeom prst="roundRect">
            <a:avLst/>
          </a:prstGeom>
          <a:solidFill>
            <a:srgbClr val="E3EA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692554" y="2206142"/>
            <a:ext cx="2493264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83A52"/>
                </a:solidFill>
                <a:latin typeface="Aptos"/>
              </a:rPr>
              <a:t>85.5°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54398" y="1889150"/>
            <a:ext cx="2520695" cy="1159764"/>
          </a:xfrm>
          <a:prstGeom prst="roundRect">
            <a:avLst/>
          </a:prstGeom>
          <a:solidFill>
            <a:srgbClr val="E9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68114" y="2206142"/>
            <a:ext cx="2493264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83A52"/>
                </a:solidFill>
                <a:latin typeface="Aptos"/>
              </a:rPr>
              <a:t>100.3°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29958" y="1889150"/>
            <a:ext cx="2520695" cy="1159764"/>
          </a:xfrm>
          <a:prstGeom prst="roundRect">
            <a:avLst/>
          </a:prstGeom>
          <a:solidFill>
            <a:srgbClr val="EFC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43674" y="2206142"/>
            <a:ext cx="2493264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83A52"/>
                </a:solidFill>
                <a:latin typeface="Aptos"/>
              </a:rPr>
              <a:t>114.4°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" y="3340608"/>
            <a:ext cx="886968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k = 21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678838" y="3108350"/>
            <a:ext cx="2520695" cy="1159764"/>
          </a:xfrm>
          <a:prstGeom prst="roundRect">
            <a:avLst/>
          </a:prstGeom>
          <a:solidFill>
            <a:srgbClr val="E2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692554" y="3425342"/>
            <a:ext cx="2493264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83A52"/>
                </a:solidFill>
                <a:latin typeface="Aptos"/>
              </a:rPr>
              <a:t>82.6°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54398" y="3108350"/>
            <a:ext cx="2520695" cy="1159764"/>
          </a:xfrm>
          <a:prstGeom prst="roundRect">
            <a:avLst/>
          </a:prstGeom>
          <a:solidFill>
            <a:srgbClr val="E6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68114" y="3425342"/>
            <a:ext cx="2493264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83A52"/>
                </a:solidFill>
                <a:latin typeface="Aptos"/>
              </a:rPr>
              <a:t>93.3°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829958" y="3108350"/>
            <a:ext cx="2520695" cy="1159764"/>
          </a:xfrm>
          <a:prstGeom prst="roundRect">
            <a:avLst/>
          </a:prstGeom>
          <a:solidFill>
            <a:srgbClr val="EA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43674" y="3425342"/>
            <a:ext cx="2493264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83A52"/>
                </a:solidFill>
                <a:latin typeface="Aptos"/>
              </a:rPr>
              <a:t>103.5°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" y="4559808"/>
            <a:ext cx="886968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k = 30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678838" y="4327550"/>
            <a:ext cx="2520695" cy="1159764"/>
          </a:xfrm>
          <a:prstGeom prst="roundRect">
            <a:avLst/>
          </a:prstGeom>
          <a:solidFill>
            <a:srgbClr val="E2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92554" y="4644542"/>
            <a:ext cx="2493264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83A52"/>
                </a:solidFill>
                <a:latin typeface="Aptos"/>
              </a:rPr>
              <a:t>80.5°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254398" y="4327550"/>
            <a:ext cx="2520695" cy="1159764"/>
          </a:xfrm>
          <a:prstGeom prst="roundRect">
            <a:avLst/>
          </a:prstGeom>
          <a:solidFill>
            <a:srgbClr val="E4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268114" y="4644542"/>
            <a:ext cx="2493264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83A52"/>
                </a:solidFill>
                <a:latin typeface="Aptos"/>
              </a:rPr>
              <a:t>88.0°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29958" y="4327550"/>
            <a:ext cx="2520695" cy="1159764"/>
          </a:xfrm>
          <a:prstGeom prst="roundRect">
            <a:avLst/>
          </a:prstGeom>
          <a:solidFill>
            <a:srgbClr val="E7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43674" y="4644542"/>
            <a:ext cx="2493264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83A52"/>
                </a:solidFill>
                <a:latin typeface="Aptos"/>
              </a:rPr>
              <a:t>95.2°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509760" y="1353312"/>
            <a:ext cx="2066543" cy="4224528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01784" y="1664208"/>
            <a:ext cx="1755648" cy="6400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3A52"/>
                </a:solidFill>
                <a:latin typeface="Aptos"/>
              </a:rPr>
              <a:t>9 thermal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3A52"/>
                </a:solidFill>
                <a:latin typeface="Aptos"/>
              </a:rPr>
              <a:t>fields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720072" y="2615184"/>
            <a:ext cx="1481328" cy="0"/>
          </a:xfrm>
          <a:prstGeom prst="line">
            <a:avLst/>
          </a:prstGeom>
          <a:ln w="25400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9701784" y="2953512"/>
            <a:ext cx="1755648" cy="6583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868A"/>
                </a:solidFill>
                <a:latin typeface="Aptos"/>
              </a:rPr>
              <a:t>9 matched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868A"/>
                </a:solidFill>
                <a:latin typeface="Aptos"/>
              </a:rPr>
              <a:t>mechanical runs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701784" y="4215384"/>
            <a:ext cx="1755648" cy="7863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03344"/>
                </a:solidFill>
                <a:latin typeface="Aptos"/>
              </a:rPr>
              <a:t>Same modulus, CTE, ν and structural protocol.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2688" y="5797296"/>
            <a:ext cx="1033272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585"/>
                </a:solidFill>
                <a:latin typeface="Aptos"/>
              </a:rPr>
              <a:t>Conductivity and BLT change; each corresponding solved thermal condition feeds the same MID-property model.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Average TIM stress is lowest at 250 µm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RESULTS / MATCHED MECHANICS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10512" y="1335024"/>
            <a:ext cx="2676143" cy="3017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100 µm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86656" y="1335024"/>
            <a:ext cx="2676143" cy="3017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250 µm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62799" y="1335024"/>
            <a:ext cx="2676143" cy="3017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400 µm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3816" y="2084832"/>
            <a:ext cx="886968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k = 15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834286" y="1852574"/>
            <a:ext cx="2621279" cy="1138428"/>
          </a:xfrm>
          <a:prstGeom prst="roundRect">
            <a:avLst/>
          </a:prstGeom>
          <a:solidFill>
            <a:srgbClr val="D6B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48002" y="2164019"/>
            <a:ext cx="2593848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0.012094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10430" y="1852574"/>
            <a:ext cx="2621279" cy="1138428"/>
          </a:xfrm>
          <a:prstGeom prst="roundRect">
            <a:avLst/>
          </a:prstGeom>
          <a:solidFill>
            <a:srgbClr val="D7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24146" y="2164019"/>
            <a:ext cx="2593848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0.012014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186574" y="1852574"/>
            <a:ext cx="2621279" cy="1138428"/>
          </a:xfrm>
          <a:prstGeom prst="roundRect">
            <a:avLst/>
          </a:prstGeom>
          <a:solidFill>
            <a:srgbClr val="D68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00290" y="2164019"/>
            <a:ext cx="2593848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0.013286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6" y="3282696"/>
            <a:ext cx="886968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k = 21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834286" y="3050438"/>
            <a:ext cx="2621279" cy="1138428"/>
          </a:xfrm>
          <a:prstGeom prst="roundRect">
            <a:avLst/>
          </a:prstGeom>
          <a:solidFill>
            <a:srgbClr val="D7C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848002" y="3361883"/>
            <a:ext cx="2593848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0.011960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10430" y="3050438"/>
            <a:ext cx="2621279" cy="1138428"/>
          </a:xfrm>
          <a:prstGeom prst="roundRect">
            <a:avLst/>
          </a:prstGeom>
          <a:solidFill>
            <a:srgbClr val="D7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24146" y="3361883"/>
            <a:ext cx="2593848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0.011339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186574" y="3050438"/>
            <a:ext cx="2621279" cy="1138428"/>
          </a:xfrm>
          <a:prstGeom prst="roundRect">
            <a:avLst/>
          </a:prstGeom>
          <a:solidFill>
            <a:srgbClr val="D6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00290" y="3361883"/>
            <a:ext cx="2593848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0.012153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3816" y="4480560"/>
            <a:ext cx="886968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k = 30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834286" y="4248302"/>
            <a:ext cx="2621279" cy="1138428"/>
          </a:xfrm>
          <a:prstGeom prst="roundRect">
            <a:avLst/>
          </a:prstGeom>
          <a:solidFill>
            <a:srgbClr val="D7C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848002" y="4559747"/>
            <a:ext cx="2593848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0.011866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10430" y="4248302"/>
            <a:ext cx="2621279" cy="1138428"/>
          </a:xfrm>
          <a:prstGeom prst="roundRect">
            <a:avLst/>
          </a:prstGeom>
          <a:solidFill>
            <a:srgbClr val="D8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24146" y="4559747"/>
            <a:ext cx="2593848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0.010841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186574" y="4248302"/>
            <a:ext cx="2621279" cy="1138428"/>
          </a:xfrm>
          <a:prstGeom prst="roundRect">
            <a:avLst/>
          </a:prstGeom>
          <a:solidFill>
            <a:srgbClr val="D7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200290" y="4559747"/>
            <a:ext cx="2593848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0.011306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537192" y="1472184"/>
            <a:ext cx="1984248" cy="3886200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01784" y="1746504"/>
            <a:ext cx="2316175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3868A"/>
                </a:solidFill>
                <a:latin typeface="Aptos"/>
              </a:rPr>
              <a:t>STRESS MINIMUM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83496" y="2304288"/>
            <a:ext cx="1691640" cy="57607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A896A"/>
                </a:solidFill>
                <a:latin typeface="Aptos"/>
              </a:rPr>
              <a:t>0.010841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92640" y="2834640"/>
            <a:ext cx="1691640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585"/>
                </a:solidFill>
                <a:latin typeface="Aptos"/>
              </a:rPr>
              <a:t>MPa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701784" y="3364992"/>
            <a:ext cx="1627632" cy="8229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k = 30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BLT = 250 µm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01784" y="4434840"/>
            <a:ext cx="1600200" cy="5669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585"/>
                </a:solidFill>
                <a:latin typeface="Aptos"/>
              </a:rPr>
              <a:t>Within sampled, assumed model.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6112" y="5779008"/>
            <a:ext cx="10533888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At every k in {15, 21, 30} W/(m·K), the sampled 250-µm BLT minimizes mean stress and strain.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3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Mean TIM strain confirms the intermediate-BLT minimum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RESULTS / MATCHED MECHANICS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57585"/>
                </a:solidFill>
                <a:latin typeface="Aptos"/>
              </a:rPr>
              <a:t>Team's nine matching Icepak-to-MAPDL MID-model simulations (dimensionless strain shown as %).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4360" y="1280160"/>
            <a:ext cx="7973568" cy="436168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1371600" y="4590288"/>
            <a:ext cx="6702552" cy="0"/>
          </a:xfrm>
          <a:prstGeom prst="line">
            <a:avLst/>
          </a:prstGeom>
          <a:ln w="889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95528" y="4489703"/>
            <a:ext cx="521207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57585"/>
                </a:solidFill>
                <a:latin typeface="Aptos"/>
              </a:rPr>
              <a:t>1.08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371600" y="3886200"/>
            <a:ext cx="6702552" cy="0"/>
          </a:xfrm>
          <a:prstGeom prst="line">
            <a:avLst/>
          </a:prstGeom>
          <a:ln w="889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95528" y="3785615"/>
            <a:ext cx="521207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57585"/>
                </a:solidFill>
                <a:latin typeface="Aptos"/>
              </a:rPr>
              <a:t>1.16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371600" y="3182111"/>
            <a:ext cx="6702552" cy="0"/>
          </a:xfrm>
          <a:prstGeom prst="line">
            <a:avLst/>
          </a:prstGeom>
          <a:ln w="889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95528" y="3081527"/>
            <a:ext cx="521207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57585"/>
                </a:solidFill>
                <a:latin typeface="Aptos"/>
              </a:rPr>
              <a:t>1.23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371600" y="2478023"/>
            <a:ext cx="6702552" cy="0"/>
          </a:xfrm>
          <a:prstGeom prst="line">
            <a:avLst/>
          </a:prstGeom>
          <a:ln w="889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95528" y="2377439"/>
            <a:ext cx="521207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57585"/>
                </a:solidFill>
                <a:latin typeface="Aptos"/>
              </a:rPr>
              <a:t>1.30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371600" y="1773935"/>
            <a:ext cx="6702552" cy="0"/>
          </a:xfrm>
          <a:prstGeom prst="line">
            <a:avLst/>
          </a:prstGeom>
          <a:ln w="889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95528" y="1673351"/>
            <a:ext cx="521207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57585"/>
                </a:solidFill>
                <a:latin typeface="Aptos"/>
              </a:rPr>
              <a:t>1.38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" y="4700016"/>
            <a:ext cx="685800" cy="22860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344"/>
                </a:solidFill>
                <a:latin typeface="Aptos"/>
              </a:rPr>
              <a:t>100 µm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02836" y="4700016"/>
            <a:ext cx="685800" cy="22860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344"/>
                </a:solidFill>
                <a:latin typeface="Aptos"/>
              </a:rPr>
              <a:t>250 µm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54112" y="4700016"/>
            <a:ext cx="685800" cy="22860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344"/>
                </a:solidFill>
                <a:latin typeface="Aptos"/>
              </a:rPr>
              <a:t>400 µm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330452" y="2889369"/>
            <a:ext cx="82296" cy="82296"/>
          </a:xfrm>
          <a:prstGeom prst="round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681728" y="3144719"/>
            <a:ext cx="82296" cy="82296"/>
          </a:xfrm>
          <a:prstGeom prst="round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033004" y="1981565"/>
            <a:ext cx="82296" cy="82296"/>
          </a:xfrm>
          <a:prstGeom prst="round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1371600" y="2930517"/>
            <a:ext cx="3351276" cy="255350"/>
          </a:xfrm>
          <a:prstGeom prst="line">
            <a:avLst/>
          </a:prstGeom>
          <a:ln w="27940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722876" y="2022713"/>
            <a:ext cx="3351276" cy="1163154"/>
          </a:xfrm>
          <a:prstGeom prst="line">
            <a:avLst/>
          </a:prstGeom>
          <a:ln w="27940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1444752" y="4974336"/>
            <a:ext cx="146304" cy="91440"/>
          </a:xfrm>
          <a:prstGeom prst="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64208" y="4901183"/>
            <a:ext cx="1920240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3344"/>
                </a:solidFill>
                <a:latin typeface="Aptos"/>
              </a:rPr>
              <a:t>k = 15 W/(m·K)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330452" y="3047085"/>
            <a:ext cx="82296" cy="82296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681728" y="3803745"/>
            <a:ext cx="82296" cy="82296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033004" y="3076187"/>
            <a:ext cx="82296" cy="82296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1371600" y="3088233"/>
            <a:ext cx="3351276" cy="756660"/>
          </a:xfrm>
          <a:prstGeom prst="line">
            <a:avLst/>
          </a:prstGeom>
          <a:ln w="27940">
            <a:solidFill>
              <a:srgbClr val="138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722876" y="3117335"/>
            <a:ext cx="3351276" cy="727558"/>
          </a:xfrm>
          <a:prstGeom prst="line">
            <a:avLst/>
          </a:prstGeom>
          <a:ln w="27940">
            <a:solidFill>
              <a:srgbClr val="138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3593592" y="4974336"/>
            <a:ext cx="146304" cy="91440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813048" y="4901183"/>
            <a:ext cx="1920240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3344"/>
                </a:solidFill>
                <a:latin typeface="Aptos"/>
              </a:rPr>
              <a:t>k = 21 W/(m·K)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330452" y="3160678"/>
            <a:ext cx="82296" cy="82296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4681728" y="4290035"/>
            <a:ext cx="82296" cy="82296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8033004" y="3893868"/>
            <a:ext cx="82296" cy="82296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1371600" y="3201826"/>
            <a:ext cx="3351276" cy="1129357"/>
          </a:xfrm>
          <a:prstGeom prst="line">
            <a:avLst/>
          </a:prstGeom>
          <a:ln w="27940">
            <a:solidFill>
              <a:srgbClr val="2A8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722876" y="3935016"/>
            <a:ext cx="3351276" cy="396167"/>
          </a:xfrm>
          <a:prstGeom prst="line">
            <a:avLst/>
          </a:prstGeom>
          <a:ln w="27940">
            <a:solidFill>
              <a:srgbClr val="2A8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5742432" y="4974336"/>
            <a:ext cx="146304" cy="91440"/>
          </a:xfrm>
          <a:prstGeom prst="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61888" y="4901183"/>
            <a:ext cx="1920240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3344"/>
                </a:solidFill>
                <a:latin typeface="Aptos"/>
              </a:rPr>
              <a:t>k = 30 W/(m·K)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787384" y="1280160"/>
            <a:ext cx="2743200" cy="4361688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025128" y="1627632"/>
            <a:ext cx="2258568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A matched result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25128" y="2286000"/>
            <a:ext cx="2240280" cy="5486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A896A"/>
                </a:solidFill>
                <a:latin typeface="Aptos"/>
              </a:rPr>
              <a:t>1.1076%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034272" y="2962656"/>
            <a:ext cx="2221992" cy="12435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03344"/>
                </a:solidFill>
                <a:latin typeface="Aptos"/>
              </a:rPr>
              <a:t>Lowest sampled equivalent elastic strain at k = 30 W/(m·K), BLT = 250 µm.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23544" y="5733288"/>
            <a:ext cx="10341864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At every sampled conductivity, the 250-µm case minimizes mean stress AND mean strain.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Thinner BLT improves modeled warpage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RESULTS / MATCHED MECHANICS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9224" y="1371600"/>
            <a:ext cx="7699248" cy="410565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1517904" y="4297679"/>
            <a:ext cx="6245352" cy="0"/>
          </a:xfrm>
          <a:prstGeom prst="line">
            <a:avLst/>
          </a:prstGeom>
          <a:ln w="889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41832" y="4197095"/>
            <a:ext cx="521207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57585"/>
                </a:solidFill>
                <a:latin typeface="Aptos"/>
              </a:rPr>
              <a:t>16.0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517904" y="3703319"/>
            <a:ext cx="6245352" cy="0"/>
          </a:xfrm>
          <a:prstGeom prst="line">
            <a:avLst/>
          </a:prstGeom>
          <a:ln w="889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941832" y="3602735"/>
            <a:ext cx="521207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57585"/>
                </a:solidFill>
                <a:latin typeface="Aptos"/>
              </a:rPr>
              <a:t>18.0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517904" y="3108959"/>
            <a:ext cx="6245352" cy="0"/>
          </a:xfrm>
          <a:prstGeom prst="line">
            <a:avLst/>
          </a:prstGeom>
          <a:ln w="889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41832" y="3008375"/>
            <a:ext cx="521207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57585"/>
                </a:solidFill>
                <a:latin typeface="Aptos"/>
              </a:rPr>
              <a:t>20.0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517904" y="2514599"/>
            <a:ext cx="6245352" cy="0"/>
          </a:xfrm>
          <a:prstGeom prst="line">
            <a:avLst/>
          </a:prstGeom>
          <a:ln w="889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41832" y="2414015"/>
            <a:ext cx="521207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57585"/>
                </a:solidFill>
                <a:latin typeface="Aptos"/>
              </a:rPr>
              <a:t>22.0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517904" y="1920239"/>
            <a:ext cx="6245352" cy="0"/>
          </a:xfrm>
          <a:prstGeom prst="line">
            <a:avLst/>
          </a:prstGeom>
          <a:ln w="889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41832" y="1819655"/>
            <a:ext cx="521207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57585"/>
                </a:solidFill>
                <a:latin typeface="Aptos"/>
              </a:rPr>
              <a:t>24.0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97864" y="4407407"/>
            <a:ext cx="685800" cy="22860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344"/>
                </a:solidFill>
                <a:latin typeface="Aptos"/>
              </a:rPr>
              <a:t>100 µm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20540" y="4407407"/>
            <a:ext cx="685800" cy="22860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344"/>
                </a:solidFill>
                <a:latin typeface="Aptos"/>
              </a:rPr>
              <a:t>250 µm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43216" y="4407407"/>
            <a:ext cx="685800" cy="22860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344"/>
                </a:solidFill>
                <a:latin typeface="Aptos"/>
              </a:rPr>
              <a:t>400 µm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476756" y="3480595"/>
            <a:ext cx="82296" cy="82296"/>
          </a:xfrm>
          <a:prstGeom prst="round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599432" y="2786085"/>
            <a:ext cx="82296" cy="82296"/>
          </a:xfrm>
          <a:prstGeom prst="round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722108" y="2026790"/>
            <a:ext cx="82296" cy="82296"/>
          </a:xfrm>
          <a:prstGeom prst="round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 flipV="1">
            <a:off x="1517904" y="2827233"/>
            <a:ext cx="3122676" cy="694510"/>
          </a:xfrm>
          <a:prstGeom prst="line">
            <a:avLst/>
          </a:prstGeom>
          <a:ln w="27940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640580" y="2067938"/>
            <a:ext cx="3122676" cy="759295"/>
          </a:xfrm>
          <a:prstGeom prst="line">
            <a:avLst/>
          </a:prstGeom>
          <a:ln w="27940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1591056" y="4681727"/>
            <a:ext cx="146304" cy="91440"/>
          </a:xfrm>
          <a:prstGeom prst="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810512" y="4608575"/>
            <a:ext cx="1920240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3344"/>
                </a:solidFill>
                <a:latin typeface="Aptos"/>
              </a:rPr>
              <a:t>k = 15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476756" y="3728145"/>
            <a:ext cx="82296" cy="82296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599432" y="3361425"/>
            <a:ext cx="82296" cy="82296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722108" y="2920410"/>
            <a:ext cx="82296" cy="82296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1517904" y="3402573"/>
            <a:ext cx="3122676" cy="366720"/>
          </a:xfrm>
          <a:prstGeom prst="line">
            <a:avLst/>
          </a:prstGeom>
          <a:ln w="27940">
            <a:solidFill>
              <a:srgbClr val="138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640580" y="2961558"/>
            <a:ext cx="3122676" cy="441015"/>
          </a:xfrm>
          <a:prstGeom prst="line">
            <a:avLst/>
          </a:prstGeom>
          <a:ln w="27940">
            <a:solidFill>
              <a:srgbClr val="138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3672840" y="4681727"/>
            <a:ext cx="146304" cy="91440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892296" y="4608575"/>
            <a:ext cx="1920240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3344"/>
                </a:solidFill>
                <a:latin typeface="Aptos"/>
              </a:rPr>
              <a:t>k = 21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476756" y="3913289"/>
            <a:ext cx="82296" cy="82296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4599432" y="3784015"/>
            <a:ext cx="82296" cy="82296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7722108" y="3575098"/>
            <a:ext cx="82296" cy="82296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1517904" y="3825163"/>
            <a:ext cx="3122676" cy="129274"/>
          </a:xfrm>
          <a:prstGeom prst="line">
            <a:avLst/>
          </a:prstGeom>
          <a:ln w="27940">
            <a:solidFill>
              <a:srgbClr val="2A8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640580" y="3616246"/>
            <a:ext cx="3122676" cy="208917"/>
          </a:xfrm>
          <a:prstGeom prst="line">
            <a:avLst/>
          </a:prstGeom>
          <a:ln w="27940">
            <a:solidFill>
              <a:srgbClr val="2A8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5754624" y="4681727"/>
            <a:ext cx="146304" cy="91440"/>
          </a:xfrm>
          <a:prstGeom prst="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74080" y="4608575"/>
            <a:ext cx="1920240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3344"/>
                </a:solidFill>
                <a:latin typeface="Aptos"/>
              </a:rPr>
              <a:t>k = 30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513064" y="1371600"/>
            <a:ext cx="2916936" cy="4105656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741664" y="1719072"/>
            <a:ext cx="2414016" cy="4480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k = 30 W/(m·K)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750808" y="2359152"/>
            <a:ext cx="2404872" cy="5029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3868A"/>
                </a:solidFill>
                <a:latin typeface="Aptos"/>
              </a:rPr>
              <a:t>17.155 µm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750808" y="2907792"/>
            <a:ext cx="2395728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03344"/>
                </a:solidFill>
                <a:latin typeface="Aptos"/>
              </a:rPr>
              <a:t>Lowest modeled lid warpage among nine cases.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8750808" y="3849624"/>
            <a:ext cx="2386584" cy="0"/>
          </a:xfrm>
          <a:prstGeom prst="line">
            <a:avLst/>
          </a:prstGeom>
          <a:ln w="1524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8750808" y="4087368"/>
            <a:ext cx="2386584" cy="7863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963A21"/>
                </a:solidFill>
                <a:latin typeface="Aptos"/>
              </a:rPr>
              <a:t>But mean TIM stress is not minimized at 100 µm.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Holding conductivity fixed reveals the trade-off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RESULTS / CONTROLLED COMPARISON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13232" y="1353312"/>
            <a:ext cx="3465576" cy="1874519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0392" y="1554480"/>
            <a:ext cx="3191256" cy="521207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3868A"/>
                </a:solidFill>
                <a:latin typeface="Aptos"/>
              </a:rPr>
              <a:t>−7.571 °C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" y="2185416"/>
            <a:ext cx="3191256" cy="5577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3344"/>
                </a:solidFill>
                <a:latin typeface="Aptos"/>
              </a:rPr>
              <a:t>Peak temperature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" y="2788920"/>
            <a:ext cx="3191256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57585"/>
                </a:solidFill>
                <a:latin typeface="Aptos"/>
              </a:rPr>
              <a:t>250 → 100 µm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79976" y="1353312"/>
            <a:ext cx="3465576" cy="1874519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17136" y="1554480"/>
            <a:ext cx="3191256" cy="521207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2A896A"/>
                </a:solidFill>
                <a:latin typeface="Aptos"/>
              </a:rPr>
              <a:t>−2.47%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17136" y="2185416"/>
            <a:ext cx="3191256" cy="5577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3344"/>
                </a:solidFill>
                <a:latin typeface="Aptos"/>
              </a:rPr>
              <a:t>Lid warpage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17136" y="2788920"/>
            <a:ext cx="3191256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57585"/>
                </a:solidFill>
                <a:latin typeface="Aptos"/>
              </a:rPr>
              <a:t>250 → 100 µm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46720" y="1353312"/>
            <a:ext cx="3456432" cy="1874519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83880" y="1554480"/>
            <a:ext cx="3182112" cy="521207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963A21"/>
                </a:solidFill>
                <a:latin typeface="Aptos"/>
              </a:rPr>
              <a:t>+9.46%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83880" y="2185416"/>
            <a:ext cx="3182112" cy="5577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3344"/>
                </a:solidFill>
                <a:latin typeface="Aptos"/>
              </a:rPr>
              <a:t>Mean TIM stress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83880" y="2788920"/>
            <a:ext cx="3182112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57585"/>
                </a:solidFill>
                <a:latin typeface="Aptos"/>
              </a:rPr>
              <a:t>250 → 100 µm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69848" y="3575304"/>
            <a:ext cx="10067544" cy="1627632"/>
          </a:xfrm>
          <a:prstGeom prst="roundRect">
            <a:avLst/>
          </a:prstGeom>
          <a:solidFill>
            <a:srgbClr val="E5EFF3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453896" y="3794760"/>
            <a:ext cx="9299448" cy="5029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3A52"/>
                </a:solidFill>
                <a:latin typeface="Aptos"/>
              </a:rPr>
              <a:t>All three changes occur at fixed k = 30 W/(m·K).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408176" y="4443984"/>
            <a:ext cx="9354312" cy="4206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03344"/>
                </a:solidFill>
                <a:latin typeface="Aptos"/>
              </a:rPr>
              <a:t>Mean equivalent elastic strain rises by 10.86% when BLT falls from 250 to 100 µm.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The sampled thermal–mechanical decision map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RESULTS / MULTI-OBJECTIVE COMPARISON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3504" y="1307592"/>
            <a:ext cx="7900416" cy="431596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1600200" y="4553712"/>
            <a:ext cx="6364224" cy="0"/>
          </a:xfrm>
          <a:prstGeom prst="line">
            <a:avLst/>
          </a:prstGeom>
          <a:ln w="762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05256" y="4453127"/>
            <a:ext cx="594360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585"/>
                </a:solidFill>
                <a:latin typeface="Aptos"/>
              </a:rPr>
              <a:t>0.0104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600200" y="3865625"/>
            <a:ext cx="6364224" cy="0"/>
          </a:xfrm>
          <a:prstGeom prst="line">
            <a:avLst/>
          </a:prstGeom>
          <a:ln w="762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905256" y="3765041"/>
            <a:ext cx="594360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585"/>
                </a:solidFill>
                <a:latin typeface="Aptos"/>
              </a:rPr>
              <a:t>0.0112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600200" y="3177539"/>
            <a:ext cx="6364224" cy="0"/>
          </a:xfrm>
          <a:prstGeom prst="line">
            <a:avLst/>
          </a:prstGeom>
          <a:ln w="762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05256" y="3076956"/>
            <a:ext cx="594360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585"/>
                </a:solidFill>
                <a:latin typeface="Aptos"/>
              </a:rPr>
              <a:t>0.0121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600200" y="2489453"/>
            <a:ext cx="6364224" cy="0"/>
          </a:xfrm>
          <a:prstGeom prst="line">
            <a:avLst/>
          </a:prstGeom>
          <a:ln w="762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05256" y="2388870"/>
            <a:ext cx="594360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585"/>
                </a:solidFill>
                <a:latin typeface="Aptos"/>
              </a:rPr>
              <a:t>0.0129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600200" y="1801367"/>
            <a:ext cx="6364224" cy="0"/>
          </a:xfrm>
          <a:prstGeom prst="line">
            <a:avLst/>
          </a:prstGeom>
          <a:ln w="762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05256" y="1700783"/>
            <a:ext cx="594360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585"/>
                </a:solidFill>
                <a:latin typeface="Aptos"/>
              </a:rPr>
              <a:t>0.0138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600200" y="1801368"/>
            <a:ext cx="0" cy="2752344"/>
          </a:xfrm>
          <a:prstGeom prst="line">
            <a:avLst/>
          </a:prstGeom>
          <a:ln w="6985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298448" y="4681727"/>
            <a:ext cx="640080" cy="2011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585"/>
                </a:solidFill>
                <a:latin typeface="Aptos"/>
              </a:rPr>
              <a:t>78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3191256" y="1801368"/>
            <a:ext cx="0" cy="2752344"/>
          </a:xfrm>
          <a:prstGeom prst="line">
            <a:avLst/>
          </a:prstGeom>
          <a:ln w="6985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2889504" y="4681727"/>
            <a:ext cx="640080" cy="2011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585"/>
                </a:solidFill>
                <a:latin typeface="Aptos"/>
              </a:rPr>
              <a:t>88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4782312" y="1801368"/>
            <a:ext cx="0" cy="2752344"/>
          </a:xfrm>
          <a:prstGeom prst="line">
            <a:avLst/>
          </a:prstGeom>
          <a:ln w="6985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480560" y="4681727"/>
            <a:ext cx="640080" cy="2011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585"/>
                </a:solidFill>
                <a:latin typeface="Aptos"/>
              </a:rPr>
              <a:t>98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373368" y="1801368"/>
            <a:ext cx="0" cy="2752344"/>
          </a:xfrm>
          <a:prstGeom prst="line">
            <a:avLst/>
          </a:prstGeom>
          <a:ln w="6985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071616" y="4681727"/>
            <a:ext cx="640080" cy="2011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585"/>
                </a:solidFill>
                <a:latin typeface="Aptos"/>
              </a:rPr>
              <a:t>108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964424" y="1801368"/>
            <a:ext cx="0" cy="2752344"/>
          </a:xfrm>
          <a:prstGeom prst="line">
            <a:avLst/>
          </a:prstGeom>
          <a:ln w="6985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7662672" y="4681727"/>
            <a:ext cx="640080" cy="2011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585"/>
                </a:solidFill>
                <a:latin typeface="Aptos"/>
              </a:rPr>
              <a:t>118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739780" y="3130276"/>
            <a:ext cx="104241" cy="104241"/>
          </a:xfrm>
          <a:prstGeom prst="round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099793" y="3195037"/>
            <a:ext cx="104241" cy="104241"/>
          </a:xfrm>
          <a:prstGeom prst="round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337772" y="2165336"/>
            <a:ext cx="104241" cy="104241"/>
          </a:xfrm>
          <a:prstGeom prst="round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2283942" y="3238751"/>
            <a:ext cx="104241" cy="104241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989395" y="3741458"/>
            <a:ext cx="104241" cy="104241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612272" y="3082515"/>
            <a:ext cx="104241" cy="104241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938683" y="3314845"/>
            <a:ext cx="104241" cy="104241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091388" y="3101790"/>
            <a:ext cx="1280160" cy="21031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3A52"/>
                </a:solidFill>
                <a:latin typeface="Aptos"/>
              </a:rPr>
              <a:t>100 µm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143271" y="4144595"/>
            <a:ext cx="104241" cy="104241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295976" y="3931540"/>
            <a:ext cx="1280160" cy="21031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3A52"/>
                </a:solidFill>
                <a:latin typeface="Aptos"/>
              </a:rPr>
              <a:t>250 µm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283740" y="3768172"/>
            <a:ext cx="104241" cy="104241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938150" y="4974336"/>
            <a:ext cx="4356201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344"/>
                </a:solidFill>
                <a:latin typeface="Aptos"/>
              </a:rPr>
              <a:t>Peak die temperature [°C]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668512" y="1307592"/>
            <a:ext cx="2834640" cy="4315968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15400" y="1645920"/>
            <a:ext cx="2395728" cy="521207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83A52"/>
                </a:solidFill>
                <a:latin typeface="Aptos"/>
              </a:rPr>
              <a:t>Two priorities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897112" y="2295144"/>
            <a:ext cx="2377440" cy="338328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88552" y="2354579"/>
            <a:ext cx="2194560" cy="23774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THERMAL PRIORITY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61120" y="2816352"/>
            <a:ext cx="2258568" cy="4480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30 W/m·K, 100 µm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897112" y="3502152"/>
            <a:ext cx="2377440" cy="338328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88552" y="3561588"/>
            <a:ext cx="2194560" cy="23774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LOWER TIM STRESS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61120" y="4023360"/>
            <a:ext cx="2276856" cy="4480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30 W/m·K, 250 µm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96696" y="5797296"/>
            <a:ext cx="10323576" cy="26517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585"/>
                </a:solidFill>
                <a:latin typeface="Aptos"/>
              </a:rPr>
              <a:t>Discrete sampled operating points, not a fitted Pareto frontier or globally proven optimum.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Engineering recommendation: two candidates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DECISION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1243584"/>
            <a:ext cx="5330952" cy="4361688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77240" y="1389888"/>
            <a:ext cx="5093208" cy="429768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7" y="1472184"/>
            <a:ext cx="4974336" cy="22860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THERMAL STRETCH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" y="1993392"/>
            <a:ext cx="4910328" cy="43891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3A52"/>
                </a:solidFill>
                <a:latin typeface="Aptos"/>
              </a:rPr>
              <a:t>k = 30 W/(m·K)  |  BLT = 100 µm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4983" y="2624328"/>
            <a:ext cx="223113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Clean Tmax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27832" y="2624328"/>
            <a:ext cx="227685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80.455 °C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4983" y="3063240"/>
            <a:ext cx="223113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88.22% Tmax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27832" y="3063240"/>
            <a:ext cx="227685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80.650 °C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4983" y="3502152"/>
            <a:ext cx="223113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Mean stress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27832" y="3502152"/>
            <a:ext cx="227685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0.011866 MPa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4983" y="3941064"/>
            <a:ext cx="223113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Mean strain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27832" y="3941064"/>
            <a:ext cx="227685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1.2279%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4983" y="4379976"/>
            <a:ext cx="223113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Lid warpage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27832" y="4379976"/>
            <a:ext cx="227685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17.155 µm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6695" y="5038344"/>
            <a:ext cx="4672584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3868A"/>
                </a:solidFill>
                <a:latin typeface="Aptos"/>
              </a:rPr>
              <a:t>Choose when modeled die temperature and warpage dominate.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90488" y="1243584"/>
            <a:ext cx="5330952" cy="4361688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309359" y="1389888"/>
            <a:ext cx="5093208" cy="429768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73368" y="1472184"/>
            <a:ext cx="4974336" cy="22860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LOWER-STRESS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82512" y="1993392"/>
            <a:ext cx="4910328" cy="43891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3A52"/>
                </a:solidFill>
                <a:latin typeface="Aptos"/>
              </a:rPr>
              <a:t>k = 30 W/(m·K)  |  BLT = 250 µm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47103" y="2624328"/>
            <a:ext cx="223113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Clean Tmax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59952" y="2624328"/>
            <a:ext cx="227685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88.026 °C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47103" y="3063240"/>
            <a:ext cx="223113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88.22% Tmax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59952" y="3063240"/>
            <a:ext cx="227685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88.295 °C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47103" y="3502152"/>
            <a:ext cx="223113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Mean stress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59952" y="3502152"/>
            <a:ext cx="227685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0.010841 MPa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47103" y="3941064"/>
            <a:ext cx="223113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Mean strain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759952" y="3941064"/>
            <a:ext cx="227685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1.1076%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47103" y="4379976"/>
            <a:ext cx="223113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Lid warpage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759952" y="4379976"/>
            <a:ext cx="227685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17.590 µm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28816" y="5038344"/>
            <a:ext cx="4672584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896A"/>
                </a:solidFill>
                <a:latin typeface="Aptos"/>
              </a:rPr>
              <a:t>Choose when mean TIM stress and strain dominate.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32688" y="5888736"/>
            <a:ext cx="10168128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63A21"/>
                </a:solidFill>
                <a:latin typeface="Aptos"/>
              </a:rPr>
              <a:t>Different scenario models: retained-area thermal runs and fully bonded mechanical analyses are not co-simulated.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Executive takeaway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THE ENGINEERING ANSWER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1207008"/>
            <a:ext cx="10744200" cy="5577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83A52"/>
                </a:solidFill>
                <a:latin typeface="Aptos"/>
              </a:rPr>
              <a:t>One package. Two valid priorities.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4360" y="1975104"/>
            <a:ext cx="3566160" cy="212140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2176272"/>
            <a:ext cx="3291840" cy="521207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3868A"/>
                </a:solidFill>
                <a:latin typeface="Aptos"/>
              </a:rPr>
              <a:t>80.455 °C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2807208"/>
            <a:ext cx="3291840" cy="5577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3344"/>
                </a:solidFill>
                <a:latin typeface="Aptos"/>
              </a:rPr>
              <a:t>Lowest modeled die temperature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3657600"/>
            <a:ext cx="3291840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57585"/>
                </a:solidFill>
                <a:latin typeface="Aptos"/>
              </a:rPr>
              <a:t>k = 30 W/(m·K), BLT = 100 µm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297680" y="1975104"/>
            <a:ext cx="3566160" cy="212140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34840" y="2176272"/>
            <a:ext cx="3291840" cy="521207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2A896A"/>
                </a:solidFill>
                <a:latin typeface="Aptos"/>
              </a:rPr>
              <a:t>0.010841 MPa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34840" y="2807208"/>
            <a:ext cx="3291840" cy="5577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3344"/>
                </a:solidFill>
                <a:latin typeface="Aptos"/>
              </a:rPr>
              <a:t>Lowest sampled mean TIM stress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4840" y="3657600"/>
            <a:ext cx="3291840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57585"/>
                </a:solidFill>
                <a:latin typeface="Aptos"/>
              </a:rPr>
              <a:t>k = 30 W/(m·K), BLT = 250 µm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001000" y="1975104"/>
            <a:ext cx="3566160" cy="212140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38160" y="2176272"/>
            <a:ext cx="3291840" cy="521207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963A21"/>
                </a:solidFill>
                <a:latin typeface="Aptos"/>
              </a:rPr>
              <a:t>9.46%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38160" y="2807208"/>
            <a:ext cx="3291840" cy="5577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3344"/>
                </a:solidFill>
                <a:latin typeface="Aptos"/>
              </a:rPr>
              <a:t>Stress penalty for thinner BLT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38160" y="3657600"/>
            <a:ext cx="3291840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57585"/>
                </a:solidFill>
                <a:latin typeface="Aptos"/>
              </a:rPr>
              <a:t>250 → 100 µm at fixed k = 30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85800" y="4416552"/>
            <a:ext cx="10789920" cy="1078992"/>
          </a:xfrm>
          <a:prstGeom prst="roundRect">
            <a:avLst/>
          </a:prstGeom>
          <a:solidFill>
            <a:srgbClr val="E5EFF3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41832" y="4608576"/>
            <a:ext cx="10259568" cy="62179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83A52"/>
                </a:solidFill>
                <a:latin typeface="Aptos"/>
              </a:rPr>
              <a:t>Higher conductivity helps broadly; installed thickness creates the sampled thermal–mechanical trade-off.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Scientific boundaries: what we cannot claim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LIMITATIONS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" y="6272784"/>
            <a:ext cx="11128248" cy="26517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r>
              <a:rPr sz="840">
                <a:solidFill>
                  <a:srgbClr val="657585"/>
                </a:solidFill>
                <a:latin typeface="Aptos"/>
              </a:rPr>
              <a:t>Reliability model limitations: Subramanian et al. (2019), DOI: 10.1115/1.4042805; Zhao et al., Int. J. Heat Mass Transfer 140 (2019), 705-716. DOI: 10.1016/j.ijheatmasstransfer.2019.06.045.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2376" y="1417320"/>
            <a:ext cx="5266944" cy="168249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6968" y="1600200"/>
            <a:ext cx="73152" cy="1316736"/>
          </a:xfrm>
          <a:prstGeom prst="rect">
            <a:avLst/>
          </a:prstGeom>
          <a:solidFill>
            <a:srgbClr val="E2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78992" y="1572768"/>
            <a:ext cx="4718304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Thermal boundary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8992" y="2029968"/>
            <a:ext cx="4672583" cy="9601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Fixed 25 °C cold-plate surface; coolant flow not resolved.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27064" y="1417320"/>
            <a:ext cx="5266944" cy="168249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391655" y="1600200"/>
            <a:ext cx="73152" cy="1316736"/>
          </a:xfrm>
          <a:prstGeom prst="rect">
            <a:avLst/>
          </a:prstGeom>
          <a:solidFill>
            <a:srgbClr val="E2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79" y="1572768"/>
            <a:ext cx="4718304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Contact-loss geometry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79" y="2029968"/>
            <a:ext cx="4672583" cy="9601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Illustrative ideal blockage; not measured void shapes or a damage-growth law.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22376" y="3392424"/>
            <a:ext cx="5266944" cy="168249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86968" y="3575304"/>
            <a:ext cx="73152" cy="1316736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78992" y="3547872"/>
            <a:ext cx="4718304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Mechanical response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8992" y="4005072"/>
            <a:ext cx="4672583" cy="9601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Assumed linear effective properties and fully bonded one-way thermal handoff.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27064" y="3392424"/>
            <a:ext cx="5266944" cy="168249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91655" y="3575304"/>
            <a:ext cx="73152" cy="1316736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83679" y="3547872"/>
            <a:ext cx="4718304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Reliability prediction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79" y="4005072"/>
            <a:ext cx="4672583" cy="9601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No validated fatigue, pump-out, delamination or failure criterion; peak stress unconverged.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" y="5833872"/>
            <a:ext cx="10488168" cy="22860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Use the results for relative design screening, not measured product lifetime or manufacturing qualification.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A realistic path to reliability qualification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FUTURE WORK / INDUSTRIAL ADOPTION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57585"/>
                </a:solidFill>
                <a:latin typeface="Aptos"/>
              </a:rPr>
              <a:t>Qualification directions motivated by cited TIM reliability and contact-resistance literature.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" y="1289304"/>
            <a:ext cx="10652760" cy="102412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78408" y="1472184"/>
            <a:ext cx="630936" cy="621792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42415" y="1618488"/>
            <a:ext cx="493776" cy="26517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19656" y="1399031"/>
            <a:ext cx="2359152" cy="37490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Material coupons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43400" y="1472184"/>
            <a:ext cx="6793992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Measure through-plane k, compressed BLT, anisotropy, temperature dependence.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77240" y="2459736"/>
            <a:ext cx="10652760" cy="1024128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78408" y="2642616"/>
            <a:ext cx="630936" cy="621792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42415" y="2788920"/>
            <a:ext cx="493776" cy="26517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19656" y="2569464"/>
            <a:ext cx="2359152" cy="37490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Interface tests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43400" y="2642616"/>
            <a:ext cx="6793992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Measure contact resistance vs. pressure and temperature; retention maps.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77240" y="3630168"/>
            <a:ext cx="10652760" cy="102412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78408" y="3813048"/>
            <a:ext cx="630936" cy="621792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42415" y="3959352"/>
            <a:ext cx="493776" cy="26517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19656" y="3739896"/>
            <a:ext cx="2359152" cy="37490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Coupled packaging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43400" y="3813048"/>
            <a:ext cx="6793992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Introduce contact pressure, deformation, interface gaps and calibrated constitutive laws.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77240" y="4800600"/>
            <a:ext cx="10652760" cy="1024128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78408" y="4983480"/>
            <a:ext cx="630936" cy="621792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42415" y="5129784"/>
            <a:ext cx="493776" cy="26517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19656" y="4910328"/>
            <a:ext cx="2359152" cy="37490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Reliability tests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43400" y="4983480"/>
            <a:ext cx="6793992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Thermal cycling, pump-out, adhesion, C-SAM, delamination and fatigue criteria.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6025896"/>
            <a:ext cx="10241280" cy="1554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63A21"/>
                </a:solidFill>
                <a:latin typeface="Aptos"/>
              </a:rPr>
              <a:t>No lifetime extension or industrial product readiness has been established by this simulation alone.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4632" y="6163056"/>
            <a:ext cx="11192256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12064" y="6190488"/>
            <a:ext cx="11119104" cy="21031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57585"/>
                </a:solidFill>
                <a:latin typeface="Aptos"/>
              </a:rPr>
              <a:t>Qualification approach: Due &amp; Robinson (2013), DOI: 10.1016/j.applthermaleng.2012.06.013; Zhao et al., Int. J. Heat Mass Transfer 140 (2019), 705-716. DOI: 10.1016/j.ijheatmasstransfer.2019.06.045.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Take-home messages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CONCLUSION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04088" y="1261872"/>
            <a:ext cx="10808208" cy="120700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77824" y="1472184"/>
            <a:ext cx="704088" cy="694944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264" y="1655063"/>
            <a:ext cx="502920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73936" y="1380743"/>
            <a:ext cx="9336024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3A52"/>
                </a:solidFill>
                <a:latin typeface="Aptos"/>
              </a:rPr>
              <a:t>Do not optimize k in isolation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01368" y="1892807"/>
            <a:ext cx="9262872" cy="4846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BLT, contact retention and hotspot location control the relevant thermal path.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4088" y="2660904"/>
            <a:ext cx="10808208" cy="1207008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77824" y="2871216"/>
            <a:ext cx="704088" cy="694944"/>
          </a:xfrm>
          <a:prstGeom prst="roundRect">
            <a:avLst/>
          </a:prstGeom>
          <a:solidFill>
            <a:srgbClr val="E2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" y="3054096"/>
            <a:ext cx="502920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773936" y="2779776"/>
            <a:ext cx="9336024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3A52"/>
                </a:solidFill>
                <a:latin typeface="Aptos"/>
              </a:rPr>
              <a:t>Topology matters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01368" y="3291840"/>
            <a:ext cx="9262872" cy="4846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Equal 64.82% retained area produced very different modeled thermal outcomes.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04088" y="4059935"/>
            <a:ext cx="10808208" cy="120700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77824" y="4270248"/>
            <a:ext cx="704088" cy="694944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9264" y="4453127"/>
            <a:ext cx="502920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73936" y="4178807"/>
            <a:ext cx="9336024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3A52"/>
                </a:solidFill>
                <a:latin typeface="Aptos"/>
              </a:rPr>
              <a:t>The best thermal point is not the lowest-stress point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01368" y="4690871"/>
            <a:ext cx="9262872" cy="4846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At k = 30, 100 µm cools best; 250 µm minimizes sampled mean stress/strain.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97280" y="5660136"/>
            <a:ext cx="9985248" cy="5120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963A21"/>
                </a:solidFill>
                <a:latin typeface="Aptos"/>
              </a:rPr>
              <a:t>Deliverable: a traceable two-candidate design window for experimental qualification.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Literature and evidence references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REFERENCES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76656" y="1234440"/>
            <a:ext cx="5385816" cy="85953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1344168"/>
            <a:ext cx="5129783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03344"/>
                </a:solidFill>
                <a:latin typeface="Aptos"/>
              </a:rPr>
              <a:t>Prasher, R. S. (2006). Thermal interface materials: Historical perspective, status and future directions. Proc. IEEE. DOI: 10.1109/JPROC.2006.879796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76656" y="2176272"/>
            <a:ext cx="5385816" cy="859536"/>
          </a:xfrm>
          <a:prstGeom prst="roundRect">
            <a:avLst/>
          </a:prstGeom>
          <a:solidFill>
            <a:srgbClr val="F8FAFB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2286000"/>
            <a:ext cx="5129783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03344"/>
                </a:solidFill>
                <a:latin typeface="Aptos"/>
              </a:rPr>
              <a:t>Due, J., &amp; Robinson, A. J. (2013). Reliability of thermal interface materials: A review. Applied Thermal Engineering. DOI: 10.1016/j.applthermaleng.2012.06.013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76656" y="3118104"/>
            <a:ext cx="5385816" cy="85953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" y="3227832"/>
            <a:ext cx="5129783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03344"/>
                </a:solidFill>
                <a:latin typeface="Aptos"/>
              </a:rPr>
              <a:t>Zhao, J.-W. et al. (2019). Effects of surface roughness, temperature and pressure on interface thermal resistance. IJHMT. DOI: 10.1016/j.ijheatmasstransfer.2019.06.045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76656" y="4059935"/>
            <a:ext cx="5385816" cy="859536"/>
          </a:xfrm>
          <a:prstGeom prst="roundRect">
            <a:avLst/>
          </a:prstGeom>
          <a:solidFill>
            <a:srgbClr val="F8FAFB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4169663"/>
            <a:ext cx="5129783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03344"/>
                </a:solidFill>
                <a:latin typeface="Aptos"/>
              </a:rPr>
              <a:t>Li, J. et al. (2023). Compliance-tunable TIMs based on vertically oriented carbon fiber arrays. Composites Science and Technology. DOI: 10.1016/j.compscitech.2023.109948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76656" y="5001768"/>
            <a:ext cx="5385816" cy="85953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" y="5111496"/>
            <a:ext cx="5129783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03344"/>
                </a:solidFill>
                <a:latin typeface="Aptos"/>
              </a:rPr>
              <a:t>Yi, M. et al. (2025). FCBGA package with vertical-aligned carbon-fiber thermal pad. Microelectronics Reliability. DOI: 10.1016/j.microrel.2025.115607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90488" y="1234440"/>
            <a:ext cx="5385816" cy="859536"/>
          </a:xfrm>
          <a:prstGeom prst="roundRect">
            <a:avLst/>
          </a:prstGeom>
          <a:solidFill>
            <a:srgbClr val="F8FAFB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36792" y="1344168"/>
            <a:ext cx="5129783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03344"/>
                </a:solidFill>
                <a:latin typeface="Aptos"/>
              </a:rPr>
              <a:t>Wen, J. et al. (2026). Indium-based self-confining metal foam TIMs for large-die FCBGA. IJTS. DOI: 10.1016/j.ijthermalsci.2025.110432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90488" y="2176272"/>
            <a:ext cx="5385816" cy="85953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36792" y="2286000"/>
            <a:ext cx="5129783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03344"/>
                </a:solidFill>
                <a:latin typeface="Aptos"/>
              </a:rPr>
              <a:t>Subramanian, V. et al. (2019). Mechanical characterization of TIMs and its challenges. Journal of Electronic Packaging. DOI: 10.1115/1.4042805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90488" y="3118104"/>
            <a:ext cx="5385816" cy="859536"/>
          </a:xfrm>
          <a:prstGeom prst="roundRect">
            <a:avLst/>
          </a:prstGeom>
          <a:solidFill>
            <a:srgbClr val="F8FAFB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36792" y="3227832"/>
            <a:ext cx="5129783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03344"/>
                </a:solidFill>
                <a:latin typeface="Aptos"/>
              </a:rPr>
              <a:t>Du, W. et al. (2026). TIM thermal-mechanical reliability and coverage degradation prediction. Microelectronics Reliability. DOI: 10.1016/j.microrel.2026.116180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90488" y="4059935"/>
            <a:ext cx="5385816" cy="85953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36792" y="4169663"/>
            <a:ext cx="5129783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03344"/>
                </a:solidFill>
                <a:latin typeface="Aptos"/>
              </a:rPr>
              <a:t>Yenigun, O. et al. (2026). Coupled thermal and mechanical analysis of TIMs in electronic packaging. IEEE TCPMT. DOI: 10.1109/TCPMT.2025.3633174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73368" y="5184648"/>
            <a:ext cx="4956048" cy="5303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3A52"/>
                </a:solidFill>
                <a:latin typeface="Aptos"/>
              </a:rPr>
              <a:t>Project numerical source: EPTC team report and frozen Icepak/MAPDL exports; 23 Oct 2026.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Rectangle 117">
            <a:extLst>
              <a:ext uri="{FF2B5EF4-FFF2-40B4-BE49-F238E27FC236}">
                <a16:creationId xmlns:a16="http://schemas.microsoft.com/office/drawing/2014/main" id="{C304B8E0-25FE-7205-4FFF-51E382D5DEC7}"/>
              </a:ext>
            </a:extLst>
          </p:cNvPr>
          <p:cNvSpPr/>
          <p:nvPr/>
        </p:nvSpPr>
        <p:spPr>
          <a:xfrm>
            <a:off x="1619368" y="12407"/>
            <a:ext cx="9144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FFFFFF"/>
                </a:solidFill>
                <a:latin typeface="Aptos Display" panose="020F0502020204030204" pitchFamily="34" charset="0"/>
                <a:cs typeface="Calibri" panose="020F0502020204030204" pitchFamily="34" charset="0"/>
              </a:rPr>
              <a:t>Backup: complete nine-case comparison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APPENDIX / NUMERICAL DATA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8912" y="1298448"/>
            <a:ext cx="1572768" cy="502920"/>
          </a:xfrm>
          <a:prstGeom prst="rect">
            <a:avLst/>
          </a:prstGeom>
          <a:solidFill>
            <a:srgbClr val="18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1463040"/>
            <a:ext cx="1517904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ptos"/>
              </a:rPr>
              <a:t>k [W/mK]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29968" y="1298448"/>
            <a:ext cx="1188720" cy="502920"/>
          </a:xfrm>
          <a:prstGeom prst="rect">
            <a:avLst/>
          </a:prstGeom>
          <a:solidFill>
            <a:srgbClr val="18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48256" y="1463040"/>
            <a:ext cx="1133856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ptos"/>
              </a:rPr>
              <a:t>BLT [µm]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36976" y="1298448"/>
            <a:ext cx="1600200" cy="502920"/>
          </a:xfrm>
          <a:prstGeom prst="rect">
            <a:avLst/>
          </a:prstGeom>
          <a:solidFill>
            <a:srgbClr val="18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55264" y="1463040"/>
            <a:ext cx="1545336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ptos"/>
              </a:rPr>
              <a:t>Tmax [°C]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73752" y="1298448"/>
            <a:ext cx="2103120" cy="502920"/>
          </a:xfrm>
          <a:prstGeom prst="rect">
            <a:avLst/>
          </a:prstGeom>
          <a:solidFill>
            <a:srgbClr val="18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92040" y="1463040"/>
            <a:ext cx="2048255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ptos"/>
              </a:rPr>
              <a:t>Mean VM [MPa]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95160" y="1298448"/>
            <a:ext cx="1965960" cy="502920"/>
          </a:xfrm>
          <a:prstGeom prst="rect">
            <a:avLst/>
          </a:prstGeom>
          <a:solidFill>
            <a:srgbClr val="18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13448" y="1463040"/>
            <a:ext cx="1911095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ptos"/>
              </a:rPr>
              <a:t>Strain [%]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97696" y="1298448"/>
            <a:ext cx="1124712" cy="502920"/>
          </a:xfrm>
          <a:prstGeom prst="rect">
            <a:avLst/>
          </a:prstGeom>
          <a:solidFill>
            <a:srgbClr val="18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15984" y="1463040"/>
            <a:ext cx="1069848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ptos"/>
              </a:rPr>
              <a:t>Warp [µm]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68128" y="1298448"/>
            <a:ext cx="1298448" cy="502920"/>
          </a:xfrm>
          <a:prstGeom prst="rect">
            <a:avLst/>
          </a:prstGeom>
          <a:solidFill>
            <a:srgbClr val="18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86415" y="1463040"/>
            <a:ext cx="1243584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ptos"/>
              </a:rPr>
              <a:t>Case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48056" y="1851660"/>
            <a:ext cx="11000232" cy="393192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5488" y="1901951"/>
            <a:ext cx="1481328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66544" y="1901951"/>
            <a:ext cx="10972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73552" y="1901951"/>
            <a:ext cx="150876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85.490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10328" y="1901951"/>
            <a:ext cx="201167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0.012094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31736" y="1901951"/>
            <a:ext cx="187451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1.2568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34272" y="1901951"/>
            <a:ext cx="1033271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18.611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04703" y="1901951"/>
            <a:ext cx="1207007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4" name="TextBox 73"/>
          <p:cNvSpPr txBox="1"/>
          <p:nvPr/>
        </p:nvSpPr>
        <p:spPr>
          <a:xfrm>
            <a:off x="475488" y="2313432"/>
            <a:ext cx="1481328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66544" y="2313432"/>
            <a:ext cx="10972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250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73552" y="2313432"/>
            <a:ext cx="150876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100.323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10328" y="2313432"/>
            <a:ext cx="201167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0.012014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31736" y="2313432"/>
            <a:ext cx="187451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1.2296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34272" y="2313432"/>
            <a:ext cx="1033271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20.948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204703" y="2313432"/>
            <a:ext cx="1207007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1" name="Rectangle 80"/>
          <p:cNvSpPr/>
          <p:nvPr/>
        </p:nvSpPr>
        <p:spPr>
          <a:xfrm>
            <a:off x="448056" y="2674620"/>
            <a:ext cx="11000232" cy="393192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75488" y="2724911"/>
            <a:ext cx="1481328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66544" y="2724911"/>
            <a:ext cx="10972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400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73552" y="2724911"/>
            <a:ext cx="150876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114.389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10328" y="2724911"/>
            <a:ext cx="201167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0.013286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31736" y="2724911"/>
            <a:ext cx="187451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1.3535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34272" y="2724911"/>
            <a:ext cx="1033271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23.503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204703" y="2724911"/>
            <a:ext cx="1207007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9" name="TextBox 88"/>
          <p:cNvSpPr txBox="1"/>
          <p:nvPr/>
        </p:nvSpPr>
        <p:spPr>
          <a:xfrm>
            <a:off x="475488" y="3136391"/>
            <a:ext cx="1481328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21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66544" y="3136391"/>
            <a:ext cx="10972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273552" y="3136391"/>
            <a:ext cx="150876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82.625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910328" y="3136391"/>
            <a:ext cx="201167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0.011960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31736" y="3136391"/>
            <a:ext cx="187451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1.2400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034272" y="3136391"/>
            <a:ext cx="1033271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17.778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204703" y="3136391"/>
            <a:ext cx="1207007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6" name="Rectangle 95"/>
          <p:cNvSpPr/>
          <p:nvPr/>
        </p:nvSpPr>
        <p:spPr>
          <a:xfrm>
            <a:off x="448056" y="3497579"/>
            <a:ext cx="11000232" cy="393192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5488" y="3547871"/>
            <a:ext cx="1481328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21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066544" y="3547871"/>
            <a:ext cx="10972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250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273552" y="3547871"/>
            <a:ext cx="150876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93.344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910328" y="3547871"/>
            <a:ext cx="201167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0.011339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031736" y="3547871"/>
            <a:ext cx="187451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1.1594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034272" y="3547871"/>
            <a:ext cx="1033271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19.012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204703" y="3547871"/>
            <a:ext cx="1207007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4" name="TextBox 103"/>
          <p:cNvSpPr txBox="1"/>
          <p:nvPr/>
        </p:nvSpPr>
        <p:spPr>
          <a:xfrm>
            <a:off x="475488" y="3959352"/>
            <a:ext cx="1481328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21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066544" y="3959352"/>
            <a:ext cx="10972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400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273552" y="3959352"/>
            <a:ext cx="150876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103.544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910328" y="3959352"/>
            <a:ext cx="201167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0.012153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031736" y="3959352"/>
            <a:ext cx="187451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1.2369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034272" y="3959352"/>
            <a:ext cx="1033271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20.496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204703" y="3959352"/>
            <a:ext cx="1207007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1" name="Rectangle 110"/>
          <p:cNvSpPr/>
          <p:nvPr/>
        </p:nvSpPr>
        <p:spPr>
          <a:xfrm>
            <a:off x="448056" y="4320540"/>
            <a:ext cx="11000232" cy="393192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75488" y="4370832"/>
            <a:ext cx="1481328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A896A"/>
                </a:solidFill>
                <a:latin typeface="Aptos"/>
              </a:rPr>
              <a:t>30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066544" y="4370832"/>
            <a:ext cx="10972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A896A"/>
                </a:solidFill>
                <a:latin typeface="Aptos"/>
              </a:rPr>
              <a:t>100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273552" y="4370832"/>
            <a:ext cx="150876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A896A"/>
                </a:solidFill>
                <a:latin typeface="Aptos"/>
              </a:rPr>
              <a:t>80.455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910328" y="4370832"/>
            <a:ext cx="201167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A896A"/>
                </a:solidFill>
                <a:latin typeface="Aptos"/>
              </a:rPr>
              <a:t>0.011866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031736" y="4370832"/>
            <a:ext cx="187451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A896A"/>
                </a:solidFill>
                <a:latin typeface="Aptos"/>
              </a:rPr>
              <a:t>1.2279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034272" y="4370832"/>
            <a:ext cx="1033271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A896A"/>
                </a:solidFill>
                <a:latin typeface="Aptos"/>
              </a:rPr>
              <a:t>17.155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204703" y="4370832"/>
            <a:ext cx="1207007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A896A"/>
                </a:solidFill>
                <a:latin typeface="Aptos"/>
              </a:rPr>
              <a:t>LOWEST 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75488" y="4782312"/>
            <a:ext cx="1481328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A896A"/>
                </a:solidFill>
                <a:latin typeface="Aptos"/>
              </a:rPr>
              <a:t>30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066544" y="4782312"/>
            <a:ext cx="10972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A896A"/>
                </a:solidFill>
                <a:latin typeface="Aptos"/>
              </a:rPr>
              <a:t>250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273552" y="4782312"/>
            <a:ext cx="150876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A896A"/>
                </a:solidFill>
                <a:latin typeface="Aptos"/>
              </a:rPr>
              <a:t>88.026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910328" y="4782312"/>
            <a:ext cx="201167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A896A"/>
                </a:solidFill>
                <a:latin typeface="Aptos"/>
              </a:rPr>
              <a:t>0.010841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031736" y="4782312"/>
            <a:ext cx="187451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A896A"/>
                </a:solidFill>
                <a:latin typeface="Aptos"/>
              </a:rPr>
              <a:t>1.1076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034272" y="4782312"/>
            <a:ext cx="1033271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A896A"/>
                </a:solidFill>
                <a:latin typeface="Aptos"/>
              </a:rPr>
              <a:t>17.590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204703" y="4782312"/>
            <a:ext cx="1207007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A896A"/>
                </a:solidFill>
                <a:latin typeface="Aptos"/>
              </a:rPr>
              <a:t>LOWEST σ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48056" y="5143500"/>
            <a:ext cx="11000232" cy="393192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75488" y="5193792"/>
            <a:ext cx="1481328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30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066544" y="5193792"/>
            <a:ext cx="10972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400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273552" y="5193792"/>
            <a:ext cx="150876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95.194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910328" y="5193792"/>
            <a:ext cx="201167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0.011306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031736" y="5193792"/>
            <a:ext cx="187451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1.1498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034272" y="5193792"/>
            <a:ext cx="1033271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18.293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204703" y="5193792"/>
            <a:ext cx="1207007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4" name="TextBox 133"/>
          <p:cNvSpPr txBox="1"/>
          <p:nvPr/>
        </p:nvSpPr>
        <p:spPr>
          <a:xfrm>
            <a:off x="11603736" y="6528816"/>
            <a:ext cx="292608" cy="23774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28DE0A81826F449983E1374746200D" ma:contentTypeVersion="18" ma:contentTypeDescription="Create a new document." ma:contentTypeScope="" ma:versionID="ccb57fe6c2841942ed25cc29c9b058a3">
  <xsd:schema xmlns:xsd="http://www.w3.org/2001/XMLSchema" xmlns:xs="http://www.w3.org/2001/XMLSchema" xmlns:p="http://schemas.microsoft.com/office/2006/metadata/properties" xmlns:ns3="c1e7db22-b898-49d6-87a5-73e0770492a7" xmlns:ns4="2096932b-a388-4a23-8c70-e3df16742143" targetNamespace="http://schemas.microsoft.com/office/2006/metadata/properties" ma:root="true" ma:fieldsID="65d7845579c125c161261e809c501b6b" ns3:_="" ns4:_="">
    <xsd:import namespace="c1e7db22-b898-49d6-87a5-73e0770492a7"/>
    <xsd:import namespace="2096932b-a388-4a23-8c70-e3df1674214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Location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e7db22-b898-49d6-87a5-73e0770492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96932b-a388-4a23-8c70-e3df16742143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1e7db22-b898-49d6-87a5-73e0770492a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AC36D7A-420E-46A3-B300-D91A6A70F3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e7db22-b898-49d6-87a5-73e0770492a7"/>
    <ds:schemaRef ds:uri="2096932b-a388-4a23-8c70-e3df167421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46656C2-2FE3-4C2F-84BA-ACD504459B53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terms/"/>
    <ds:schemaRef ds:uri="http://www.w3.org/XML/1998/namespace"/>
    <ds:schemaRef ds:uri="http://schemas.openxmlformats.org/package/2006/metadata/core-properties"/>
    <ds:schemaRef ds:uri="2096932b-a388-4a23-8c70-e3df16742143"/>
    <ds:schemaRef ds:uri="c1e7db22-b898-49d6-87a5-73e0770492a7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E796669-0A34-4912-A576-C2C5E29102D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3453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Default Design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Rajoo, Ranjan</dc:creator>
  <cp:lastModifiedBy>Andrew Tay</cp:lastModifiedBy>
  <cp:revision>131</cp:revision>
  <dcterms:created xsi:type="dcterms:W3CDTF">2023-01-28T13:09:10Z</dcterms:created>
  <dcterms:modified xsi:type="dcterms:W3CDTF">2026-10-12T15:03:39Z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b7d474d-5971-4b8a-9656-2f217c7133f6_Enabled">
    <vt:lpwstr>true</vt:lpwstr>
  </property>
  <property fmtid="{D5CDD505-2E9C-101B-9397-08002B2CF9AE}" pid="3" name="MSIP_Label_1b7d474d-5971-4b8a-9656-2f217c7133f6_SetDate">
    <vt:lpwstr>2024-11-09T03:46:30Z</vt:lpwstr>
  </property>
  <property fmtid="{D5CDD505-2E9C-101B-9397-08002B2CF9AE}" pid="4" name="MSIP_Label_1b7d474d-5971-4b8a-9656-2f217c7133f6_Method">
    <vt:lpwstr>Privileged</vt:lpwstr>
  </property>
  <property fmtid="{D5CDD505-2E9C-101B-9397-08002B2CF9AE}" pid="5" name="MSIP_Label_1b7d474d-5971-4b8a-9656-2f217c7133f6_Name">
    <vt:lpwstr>Public</vt:lpwstr>
  </property>
  <property fmtid="{D5CDD505-2E9C-101B-9397-08002B2CF9AE}" pid="6" name="MSIP_Label_1b7d474d-5971-4b8a-9656-2f217c7133f6_SiteId">
    <vt:lpwstr>c5d57708-33ca-4279-9049-5b2ac8c607e5</vt:lpwstr>
  </property>
  <property fmtid="{D5CDD505-2E9C-101B-9397-08002B2CF9AE}" pid="7" name="MSIP_Label_1b7d474d-5971-4b8a-9656-2f217c7133f6_ActionId">
    <vt:lpwstr>424ddf31-b337-4d9e-85ce-95795b98d7aa</vt:lpwstr>
  </property>
  <property fmtid="{D5CDD505-2E9C-101B-9397-08002B2CF9AE}" pid="8" name="MSIP_Label_1b7d474d-5971-4b8a-9656-2f217c7133f6_ContentBits">
    <vt:lpwstr>0</vt:lpwstr>
  </property>
  <property fmtid="{D5CDD505-2E9C-101B-9397-08002B2CF9AE}" pid="9" name="ContentTypeId">
    <vt:lpwstr>0x0101002228DE0A81826F449983E1374746200D</vt:lpwstr>
  </property>
</Properties>
</file>